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Merriweather Sans" charset="1" panose="00000500000000000000"/>
      <p:regular r:id="rId23"/>
    </p:embeddedFont>
    <p:embeddedFont>
      <p:font typeface="Monda" charset="1" panose="02000503000000000000"/>
      <p:regular r:id="rId24"/>
    </p:embeddedFont>
    <p:embeddedFont>
      <p:font typeface="Merriweather Sans Bold" charset="1" panose="00000800000000000000"/>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7.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3436190" y="59570"/>
            <a:ext cx="11704591" cy="1938260"/>
          </a:xfrm>
          <a:custGeom>
            <a:avLst/>
            <a:gdLst/>
            <a:ahLst/>
            <a:cxnLst/>
            <a:rect r="r" b="b" t="t" l="l"/>
            <a:pathLst>
              <a:path h="1938260" w="11704591">
                <a:moveTo>
                  <a:pt x="0" y="0"/>
                </a:moveTo>
                <a:lnTo>
                  <a:pt x="11704592" y="0"/>
                </a:lnTo>
                <a:lnTo>
                  <a:pt x="11704592" y="1938260"/>
                </a:lnTo>
                <a:lnTo>
                  <a:pt x="0" y="1938260"/>
                </a:lnTo>
                <a:lnTo>
                  <a:pt x="0" y="0"/>
                </a:lnTo>
                <a:close/>
              </a:path>
            </a:pathLst>
          </a:custGeom>
          <a:blipFill>
            <a:blip r:embed="rId7"/>
            <a:stretch>
              <a:fillRect l="0" t="0" r="0" b="0"/>
            </a:stretch>
          </a:blipFill>
        </p:spPr>
      </p:sp>
      <p:sp>
        <p:nvSpPr>
          <p:cNvPr name="TextBox 8" id="8"/>
          <p:cNvSpPr txBox="true"/>
          <p:nvPr/>
        </p:nvSpPr>
        <p:spPr>
          <a:xfrm rot="0">
            <a:off x="2714875" y="2843284"/>
            <a:ext cx="13147222" cy="957043"/>
          </a:xfrm>
          <a:prstGeom prst="rect">
            <a:avLst/>
          </a:prstGeom>
        </p:spPr>
        <p:txBody>
          <a:bodyPr anchor="t" rtlCol="false" tIns="0" lIns="0" bIns="0" rIns="0">
            <a:spAutoFit/>
          </a:bodyPr>
          <a:lstStyle/>
          <a:p>
            <a:pPr algn="ctr">
              <a:lnSpc>
                <a:spcPts val="7857"/>
              </a:lnSpc>
            </a:pPr>
            <a:r>
              <a:rPr lang="en-US" sz="5612">
                <a:solidFill>
                  <a:srgbClr val="050E9B"/>
                </a:solidFill>
                <a:latin typeface="Merriweather Sans"/>
                <a:ea typeface="Merriweather Sans"/>
                <a:cs typeface="Merriweather Sans"/>
                <a:sym typeface="Merriweather Sans"/>
              </a:rPr>
              <a:t>HOSPITAL BED ALLOCATION SYSTEM</a:t>
            </a:r>
          </a:p>
        </p:txBody>
      </p:sp>
      <p:sp>
        <p:nvSpPr>
          <p:cNvPr name="TextBox 9" id="9"/>
          <p:cNvSpPr txBox="true"/>
          <p:nvPr/>
        </p:nvSpPr>
        <p:spPr>
          <a:xfrm rot="0">
            <a:off x="4483938" y="4125514"/>
            <a:ext cx="10162036" cy="2343942"/>
          </a:xfrm>
          <a:prstGeom prst="rect">
            <a:avLst/>
          </a:prstGeom>
        </p:spPr>
        <p:txBody>
          <a:bodyPr anchor="t" rtlCol="false" tIns="0" lIns="0" bIns="0" rIns="0">
            <a:spAutoFit/>
          </a:bodyPr>
          <a:lstStyle/>
          <a:p>
            <a:pPr algn="ctr">
              <a:lnSpc>
                <a:spcPts val="6256"/>
              </a:lnSpc>
              <a:spcBef>
                <a:spcPct val="0"/>
              </a:spcBef>
            </a:pPr>
            <a:r>
              <a:rPr lang="en-US" sz="4468">
                <a:solidFill>
                  <a:srgbClr val="050E9B"/>
                </a:solidFill>
                <a:latin typeface="Monda"/>
                <a:ea typeface="Monda"/>
                <a:cs typeface="Monda"/>
                <a:sym typeface="Monda"/>
              </a:rPr>
              <a:t>An Intelligent Bed Allocation Framework Using Discrete Mathematics</a:t>
            </a:r>
          </a:p>
        </p:txBody>
      </p:sp>
      <p:sp>
        <p:nvSpPr>
          <p:cNvPr name="TextBox 10" id="10"/>
          <p:cNvSpPr txBox="true"/>
          <p:nvPr/>
        </p:nvSpPr>
        <p:spPr>
          <a:xfrm rot="0">
            <a:off x="6376600" y="6813692"/>
            <a:ext cx="6376713" cy="1483714"/>
          </a:xfrm>
          <a:prstGeom prst="rect">
            <a:avLst/>
          </a:prstGeom>
        </p:spPr>
        <p:txBody>
          <a:bodyPr anchor="t" rtlCol="false" tIns="0" lIns="0" bIns="0" rIns="0">
            <a:spAutoFit/>
          </a:bodyPr>
          <a:lstStyle/>
          <a:p>
            <a:pPr algn="ctr">
              <a:lnSpc>
                <a:spcPts val="3925"/>
              </a:lnSpc>
            </a:pPr>
            <a:r>
              <a:rPr lang="en-US" sz="2804">
                <a:solidFill>
                  <a:srgbClr val="050E9B"/>
                </a:solidFill>
                <a:latin typeface="Monda"/>
                <a:ea typeface="Monda"/>
                <a:cs typeface="Monda"/>
                <a:sym typeface="Monda"/>
              </a:rPr>
              <a:t>AISHVARYA K-192324007</a:t>
            </a:r>
          </a:p>
          <a:p>
            <a:pPr algn="ctr">
              <a:lnSpc>
                <a:spcPts val="3925"/>
              </a:lnSpc>
            </a:pPr>
            <a:r>
              <a:rPr lang="en-US" sz="2804">
                <a:solidFill>
                  <a:srgbClr val="050E9B"/>
                </a:solidFill>
                <a:latin typeface="Monda"/>
                <a:ea typeface="Monda"/>
                <a:cs typeface="Monda"/>
                <a:sym typeface="Monda"/>
              </a:rPr>
              <a:t>OVIYA M -192321117</a:t>
            </a:r>
          </a:p>
          <a:p>
            <a:pPr algn="ctr">
              <a:lnSpc>
                <a:spcPts val="3925"/>
              </a:lnSpc>
              <a:spcBef>
                <a:spcPct val="0"/>
              </a:spcBef>
            </a:pPr>
            <a:r>
              <a:rPr lang="en-US" sz="2804">
                <a:solidFill>
                  <a:srgbClr val="050E9B"/>
                </a:solidFill>
                <a:latin typeface="Monda"/>
                <a:ea typeface="Monda"/>
                <a:cs typeface="Monda"/>
                <a:sym typeface="Monda"/>
              </a:rPr>
              <a:t>KANMANI L-192511414</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29903" y="1742363"/>
            <a:ext cx="11228195" cy="1631831"/>
          </a:xfrm>
          <a:prstGeom prst="rect">
            <a:avLst/>
          </a:prstGeom>
        </p:spPr>
        <p:txBody>
          <a:bodyPr anchor="t" rtlCol="false" tIns="0" lIns="0" bIns="0" rIns="0">
            <a:spAutoFit/>
          </a:bodyPr>
          <a:lstStyle/>
          <a:p>
            <a:pPr algn="ctr">
              <a:lnSpc>
                <a:spcPts val="13375"/>
              </a:lnSpc>
            </a:pPr>
            <a:r>
              <a:rPr lang="en-US" sz="9554">
                <a:solidFill>
                  <a:srgbClr val="050E9B"/>
                </a:solidFill>
                <a:latin typeface="Merriweather Sans"/>
                <a:ea typeface="Merriweather Sans"/>
                <a:cs typeface="Merriweather Sans"/>
                <a:sym typeface="Merriweather Sans"/>
              </a:rPr>
              <a:t>ABSTRACT</a:t>
            </a:r>
          </a:p>
        </p:txBody>
      </p:sp>
      <p:sp>
        <p:nvSpPr>
          <p:cNvPr name="TextBox 8" id="8"/>
          <p:cNvSpPr txBox="true"/>
          <p:nvPr/>
        </p:nvSpPr>
        <p:spPr>
          <a:xfrm rot="0">
            <a:off x="2192246" y="3317043"/>
            <a:ext cx="13815017" cy="5433958"/>
          </a:xfrm>
          <a:prstGeom prst="rect">
            <a:avLst/>
          </a:prstGeom>
        </p:spPr>
        <p:txBody>
          <a:bodyPr anchor="t" rtlCol="false" tIns="0" lIns="0" bIns="0" rIns="0">
            <a:spAutoFit/>
          </a:bodyPr>
          <a:lstStyle/>
          <a:p>
            <a:pPr algn="l" marL="607679" indent="-303839" lvl="1">
              <a:lnSpc>
                <a:spcPts val="3940"/>
              </a:lnSpc>
              <a:buFont typeface="Arial"/>
              <a:buChar char="•"/>
            </a:pPr>
            <a:r>
              <a:rPr lang="en-US" sz="2814">
                <a:solidFill>
                  <a:srgbClr val="050E9B"/>
                </a:solidFill>
                <a:latin typeface="Monda"/>
                <a:ea typeface="Monda"/>
                <a:cs typeface="Monda"/>
                <a:sym typeface="Monda"/>
              </a:rPr>
              <a:t>Hospital bed allocation is one of the most important challenges in healthcare management.</a:t>
            </a:r>
          </a:p>
          <a:p>
            <a:pPr algn="l" marL="607679" indent="-303839" lvl="1">
              <a:lnSpc>
                <a:spcPts val="3940"/>
              </a:lnSpc>
              <a:buFont typeface="Arial"/>
              <a:buChar char="•"/>
            </a:pPr>
            <a:r>
              <a:rPr lang="en-US" sz="2814">
                <a:solidFill>
                  <a:srgbClr val="050E9B"/>
                </a:solidFill>
                <a:latin typeface="Monda"/>
                <a:ea typeface="Monda"/>
                <a:cs typeface="Monda"/>
                <a:sym typeface="Monda"/>
              </a:rPr>
              <a:t> Manual allocation often results in delays, inefficient resource utilization, and increased patient waiting times.</a:t>
            </a:r>
          </a:p>
          <a:p>
            <a:pPr algn="l" marL="607679" indent="-303839" lvl="1">
              <a:lnSpc>
                <a:spcPts val="3940"/>
              </a:lnSpc>
              <a:buFont typeface="Arial"/>
              <a:buChar char="•"/>
            </a:pPr>
            <a:r>
              <a:rPr lang="en-US" sz="2814">
                <a:solidFill>
                  <a:srgbClr val="050E9B"/>
                </a:solidFill>
                <a:latin typeface="Monda"/>
                <a:ea typeface="Monda"/>
                <a:cs typeface="Monda"/>
                <a:sym typeface="Monda"/>
              </a:rPr>
              <a:t>This project proposes an intelligent Hospital Bed Allocation System that automatically assigns beds based on patient priority, bed availability, department capacity, admission time, and occupancy rate. </a:t>
            </a:r>
          </a:p>
          <a:p>
            <a:pPr algn="l" marL="607679" indent="-303839" lvl="1">
              <a:lnSpc>
                <a:spcPts val="3940"/>
              </a:lnSpc>
              <a:buFont typeface="Arial"/>
              <a:buChar char="•"/>
            </a:pPr>
            <a:r>
              <a:rPr lang="en-US" sz="2814">
                <a:solidFill>
                  <a:srgbClr val="050E9B"/>
                </a:solidFill>
                <a:latin typeface="Monda"/>
                <a:ea typeface="Monda"/>
                <a:cs typeface="Monda"/>
                <a:sym typeface="Monda"/>
              </a:rPr>
              <a:t>The system uses concepts from Discrete Mathematics such as graph theory and optimization to allocate resources efficiently.</a:t>
            </a:r>
          </a:p>
          <a:p>
            <a:pPr algn="l" marL="607679" indent="-303839" lvl="1">
              <a:lnSpc>
                <a:spcPts val="3940"/>
              </a:lnSpc>
              <a:buFont typeface="Arial"/>
              <a:buChar char="•"/>
            </a:pPr>
            <a:r>
              <a:rPr lang="en-US" sz="2814">
                <a:solidFill>
                  <a:srgbClr val="050E9B"/>
                </a:solidFill>
                <a:latin typeface="Monda"/>
                <a:ea typeface="Monda"/>
                <a:cs typeface="Monda"/>
                <a:sym typeface="Monda"/>
              </a:rPr>
              <a:t>The application is developed using Python, Flask, MySQL, NetworkX, HTML, and CSS to provide a user-friendly and scalable solution for hospitals.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29903" y="1351445"/>
            <a:ext cx="11228195" cy="1631831"/>
          </a:xfrm>
          <a:prstGeom prst="rect">
            <a:avLst/>
          </a:prstGeom>
        </p:spPr>
        <p:txBody>
          <a:bodyPr anchor="t" rtlCol="false" tIns="0" lIns="0" bIns="0" rIns="0">
            <a:spAutoFit/>
          </a:bodyPr>
          <a:lstStyle/>
          <a:p>
            <a:pPr algn="ctr">
              <a:lnSpc>
                <a:spcPts val="13375"/>
              </a:lnSpc>
            </a:pPr>
            <a:r>
              <a:rPr lang="en-US" sz="9554">
                <a:solidFill>
                  <a:srgbClr val="050E9B"/>
                </a:solidFill>
                <a:latin typeface="Merriweather Sans"/>
                <a:ea typeface="Merriweather Sans"/>
                <a:cs typeface="Merriweather Sans"/>
                <a:sym typeface="Merriweather Sans"/>
              </a:rPr>
              <a:t>INTRODUCTION</a:t>
            </a:r>
          </a:p>
        </p:txBody>
      </p:sp>
      <p:sp>
        <p:nvSpPr>
          <p:cNvPr name="TextBox 8" id="8"/>
          <p:cNvSpPr txBox="true"/>
          <p:nvPr/>
        </p:nvSpPr>
        <p:spPr>
          <a:xfrm rot="0">
            <a:off x="2558657" y="2926126"/>
            <a:ext cx="13620533" cy="6720440"/>
          </a:xfrm>
          <a:prstGeom prst="rect">
            <a:avLst/>
          </a:prstGeom>
        </p:spPr>
        <p:txBody>
          <a:bodyPr anchor="t" rtlCol="false" tIns="0" lIns="0" bIns="0" rIns="0">
            <a:spAutoFit/>
          </a:bodyPr>
          <a:lstStyle/>
          <a:p>
            <a:pPr algn="l">
              <a:lnSpc>
                <a:spcPts val="4432"/>
              </a:lnSpc>
            </a:pPr>
            <a:r>
              <a:rPr lang="en-US" sz="3165">
                <a:solidFill>
                  <a:srgbClr val="050E9B"/>
                </a:solidFill>
                <a:latin typeface="Monda"/>
                <a:ea typeface="Monda"/>
                <a:cs typeface="Monda"/>
                <a:sym typeface="Monda"/>
              </a:rPr>
              <a:t>Hospitals receive patients with different medical conditions every day.</a:t>
            </a:r>
          </a:p>
          <a:p>
            <a:pPr algn="l">
              <a:lnSpc>
                <a:spcPts val="4432"/>
              </a:lnSpc>
            </a:pPr>
            <a:r>
              <a:rPr lang="en-US" sz="3165">
                <a:solidFill>
                  <a:srgbClr val="050E9B"/>
                </a:solidFill>
                <a:latin typeface="Monda"/>
                <a:ea typeface="Monda"/>
                <a:cs typeface="Monda"/>
                <a:sym typeface="Monda"/>
              </a:rPr>
              <a:t>Managing available beds manually can cause</a:t>
            </a:r>
          </a:p>
          <a:p>
            <a:pPr algn="l" marL="683487" indent="-341744" lvl="1">
              <a:lnSpc>
                <a:spcPts val="4432"/>
              </a:lnSpc>
              <a:buFont typeface="Arial"/>
              <a:buChar char="•"/>
            </a:pPr>
            <a:r>
              <a:rPr lang="en-US" sz="3165">
                <a:solidFill>
                  <a:srgbClr val="050E9B"/>
                </a:solidFill>
                <a:latin typeface="Monda"/>
                <a:ea typeface="Monda"/>
                <a:cs typeface="Monda"/>
                <a:sym typeface="Monda"/>
              </a:rPr>
              <a:t>Delayed admissions</a:t>
            </a:r>
          </a:p>
          <a:p>
            <a:pPr algn="l" marL="683487" indent="-341744" lvl="1">
              <a:lnSpc>
                <a:spcPts val="4432"/>
              </a:lnSpc>
              <a:buFont typeface="Arial"/>
              <a:buChar char="•"/>
            </a:pPr>
            <a:r>
              <a:rPr lang="en-US" sz="3165">
                <a:solidFill>
                  <a:srgbClr val="050E9B"/>
                </a:solidFill>
                <a:latin typeface="Monda"/>
                <a:ea typeface="Monda"/>
                <a:cs typeface="Monda"/>
                <a:sym typeface="Monda"/>
              </a:rPr>
              <a:t>Emergency treatment delays</a:t>
            </a:r>
          </a:p>
          <a:p>
            <a:pPr algn="l" marL="683487" indent="-341744" lvl="1">
              <a:lnSpc>
                <a:spcPts val="4432"/>
              </a:lnSpc>
              <a:buFont typeface="Arial"/>
              <a:buChar char="•"/>
            </a:pPr>
            <a:r>
              <a:rPr lang="en-US" sz="3165">
                <a:solidFill>
                  <a:srgbClr val="050E9B"/>
                </a:solidFill>
                <a:latin typeface="Monda"/>
                <a:ea typeface="Monda"/>
                <a:cs typeface="Monda"/>
                <a:sym typeface="Monda"/>
              </a:rPr>
              <a:t>Bed shortages</a:t>
            </a:r>
          </a:p>
          <a:p>
            <a:pPr algn="l" marL="683487" indent="-341744" lvl="1">
              <a:lnSpc>
                <a:spcPts val="4432"/>
              </a:lnSpc>
              <a:buFont typeface="Arial"/>
              <a:buChar char="•"/>
            </a:pPr>
            <a:r>
              <a:rPr lang="en-US" sz="3165">
                <a:solidFill>
                  <a:srgbClr val="050E9B"/>
                </a:solidFill>
                <a:latin typeface="Monda"/>
                <a:ea typeface="Monda"/>
                <a:cs typeface="Monda"/>
                <a:sym typeface="Monda"/>
              </a:rPr>
              <a:t>Poor utilization of hospital resources</a:t>
            </a:r>
          </a:p>
          <a:p>
            <a:pPr algn="l">
              <a:lnSpc>
                <a:spcPts val="4432"/>
              </a:lnSpc>
            </a:pPr>
            <a:r>
              <a:rPr lang="en-US" sz="3165">
                <a:solidFill>
                  <a:srgbClr val="050E9B"/>
                </a:solidFill>
                <a:latin typeface="Monda"/>
                <a:ea typeface="Monda"/>
                <a:cs typeface="Monda"/>
                <a:sym typeface="Monda"/>
              </a:rPr>
              <a:t>An automated allocation system helps hospitals</a:t>
            </a:r>
          </a:p>
          <a:p>
            <a:pPr algn="l" marL="683487" indent="-341744" lvl="1">
              <a:lnSpc>
                <a:spcPts val="4432"/>
              </a:lnSpc>
              <a:buFont typeface="Arial"/>
              <a:buChar char="•"/>
            </a:pPr>
            <a:r>
              <a:rPr lang="en-US" sz="3165">
                <a:solidFill>
                  <a:srgbClr val="050E9B"/>
                </a:solidFill>
                <a:latin typeface="Monda"/>
                <a:ea typeface="Monda"/>
                <a:cs typeface="Monda"/>
                <a:sym typeface="Monda"/>
              </a:rPr>
              <a:t>Allocate beds quickly</a:t>
            </a:r>
          </a:p>
          <a:p>
            <a:pPr algn="l" marL="683487" indent="-341744" lvl="1">
              <a:lnSpc>
                <a:spcPts val="4432"/>
              </a:lnSpc>
              <a:buFont typeface="Arial"/>
              <a:buChar char="•"/>
            </a:pPr>
            <a:r>
              <a:rPr lang="en-US" sz="3165">
                <a:solidFill>
                  <a:srgbClr val="050E9B"/>
                </a:solidFill>
                <a:latin typeface="Monda"/>
                <a:ea typeface="Monda"/>
                <a:cs typeface="Monda"/>
                <a:sym typeface="Monda"/>
              </a:rPr>
              <a:t>Prioritize emergency cases</a:t>
            </a:r>
          </a:p>
          <a:p>
            <a:pPr algn="l" marL="683487" indent="-341744" lvl="1">
              <a:lnSpc>
                <a:spcPts val="4432"/>
              </a:lnSpc>
              <a:buFont typeface="Arial"/>
              <a:buChar char="•"/>
            </a:pPr>
            <a:r>
              <a:rPr lang="en-US" sz="3165">
                <a:solidFill>
                  <a:srgbClr val="050E9B"/>
                </a:solidFill>
                <a:latin typeface="Monda"/>
                <a:ea typeface="Monda"/>
                <a:cs typeface="Monda"/>
                <a:sym typeface="Monda"/>
              </a:rPr>
              <a:t>Improve patient care</a:t>
            </a:r>
          </a:p>
          <a:p>
            <a:pPr algn="l" marL="683487" indent="-341744" lvl="1">
              <a:lnSpc>
                <a:spcPts val="4432"/>
              </a:lnSpc>
              <a:buFont typeface="Arial"/>
              <a:buChar char="•"/>
            </a:pPr>
            <a:r>
              <a:rPr lang="en-US" sz="3165">
                <a:solidFill>
                  <a:srgbClr val="050E9B"/>
                </a:solidFill>
                <a:latin typeface="Monda"/>
                <a:ea typeface="Monda"/>
                <a:cs typeface="Monda"/>
                <a:sym typeface="Monda"/>
              </a:rPr>
              <a:t>Utilize hospital resources efficiently</a:t>
            </a:r>
          </a:p>
          <a:p>
            <a:pPr algn="l">
              <a:lnSpc>
                <a:spcPts val="4432"/>
              </a:lnSpc>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164309" y="1411708"/>
            <a:ext cx="11228195" cy="1631831"/>
          </a:xfrm>
          <a:prstGeom prst="rect">
            <a:avLst/>
          </a:prstGeom>
        </p:spPr>
        <p:txBody>
          <a:bodyPr anchor="t" rtlCol="false" tIns="0" lIns="0" bIns="0" rIns="0">
            <a:spAutoFit/>
          </a:bodyPr>
          <a:lstStyle/>
          <a:p>
            <a:pPr algn="ctr">
              <a:lnSpc>
                <a:spcPts val="13375"/>
              </a:lnSpc>
            </a:pPr>
            <a:r>
              <a:rPr lang="en-US" sz="9554">
                <a:solidFill>
                  <a:srgbClr val="050E9B"/>
                </a:solidFill>
                <a:latin typeface="Merriweather Sans"/>
                <a:ea typeface="Merriweather Sans"/>
                <a:cs typeface="Merriweather Sans"/>
                <a:sym typeface="Merriweather Sans"/>
              </a:rPr>
              <a:t>OBJECTIVES</a:t>
            </a:r>
          </a:p>
        </p:txBody>
      </p:sp>
      <p:sp>
        <p:nvSpPr>
          <p:cNvPr name="TextBox 8" id="8"/>
          <p:cNvSpPr txBox="true"/>
          <p:nvPr/>
        </p:nvSpPr>
        <p:spPr>
          <a:xfrm rot="0">
            <a:off x="2973937" y="3307518"/>
            <a:ext cx="11089436" cy="6106920"/>
          </a:xfrm>
          <a:prstGeom prst="rect">
            <a:avLst/>
          </a:prstGeom>
        </p:spPr>
        <p:txBody>
          <a:bodyPr anchor="t" rtlCol="false" tIns="0" lIns="0" bIns="0" rIns="0">
            <a:spAutoFit/>
          </a:bodyPr>
          <a:lstStyle/>
          <a:p>
            <a:pPr algn="l">
              <a:lnSpc>
                <a:spcPts val="4832"/>
              </a:lnSpc>
            </a:pPr>
            <a:r>
              <a:rPr lang="en-US" sz="3452">
                <a:solidFill>
                  <a:srgbClr val="050E9B"/>
                </a:solidFill>
                <a:latin typeface="Monda"/>
                <a:ea typeface="Monda"/>
                <a:cs typeface="Monda"/>
                <a:sym typeface="Monda"/>
              </a:rPr>
              <a:t>The main objectives of the project are:</a:t>
            </a:r>
          </a:p>
          <a:p>
            <a:pPr algn="l" marL="745293" indent="-372646" lvl="1">
              <a:lnSpc>
                <a:spcPts val="4832"/>
              </a:lnSpc>
              <a:buFont typeface="Arial"/>
              <a:buChar char="•"/>
            </a:pPr>
            <a:r>
              <a:rPr lang="en-US" sz="3452">
                <a:solidFill>
                  <a:srgbClr val="050E9B"/>
                </a:solidFill>
                <a:latin typeface="Monda"/>
                <a:ea typeface="Monda"/>
                <a:cs typeface="Monda"/>
                <a:sym typeface="Monda"/>
              </a:rPr>
              <a:t>Automate hospital bed allocation</a:t>
            </a:r>
          </a:p>
          <a:p>
            <a:pPr algn="l" marL="745293" indent="-372646" lvl="1">
              <a:lnSpc>
                <a:spcPts val="4832"/>
              </a:lnSpc>
              <a:buFont typeface="Arial"/>
              <a:buChar char="•"/>
            </a:pPr>
            <a:r>
              <a:rPr lang="en-US" sz="3452">
                <a:solidFill>
                  <a:srgbClr val="050E9B"/>
                </a:solidFill>
                <a:latin typeface="Monda"/>
                <a:ea typeface="Monda"/>
                <a:cs typeface="Monda"/>
                <a:sym typeface="Monda"/>
              </a:rPr>
              <a:t>Reduce patient waiting time</a:t>
            </a:r>
          </a:p>
          <a:p>
            <a:pPr algn="l" marL="745293" indent="-372646" lvl="1">
              <a:lnSpc>
                <a:spcPts val="4832"/>
              </a:lnSpc>
              <a:buFont typeface="Arial"/>
              <a:buChar char="•"/>
            </a:pPr>
            <a:r>
              <a:rPr lang="en-US" sz="3452">
                <a:solidFill>
                  <a:srgbClr val="050E9B"/>
                </a:solidFill>
                <a:latin typeface="Monda"/>
                <a:ea typeface="Monda"/>
                <a:cs typeface="Monda"/>
                <a:sym typeface="Monda"/>
              </a:rPr>
              <a:t>Improve bed utilization</a:t>
            </a:r>
          </a:p>
          <a:p>
            <a:pPr algn="l" marL="745293" indent="-372646" lvl="1">
              <a:lnSpc>
                <a:spcPts val="4832"/>
              </a:lnSpc>
              <a:buFont typeface="Arial"/>
              <a:buChar char="•"/>
            </a:pPr>
            <a:r>
              <a:rPr lang="en-US" sz="3452">
                <a:solidFill>
                  <a:srgbClr val="050E9B"/>
                </a:solidFill>
                <a:latin typeface="Monda"/>
                <a:ea typeface="Monda"/>
                <a:cs typeface="Monda"/>
                <a:sym typeface="Monda"/>
              </a:rPr>
              <a:t>Prioritize critical patients</a:t>
            </a:r>
          </a:p>
          <a:p>
            <a:pPr algn="l" marL="745293" indent="-372646" lvl="1">
              <a:lnSpc>
                <a:spcPts val="4832"/>
              </a:lnSpc>
              <a:buFont typeface="Arial"/>
              <a:buChar char="•"/>
            </a:pPr>
            <a:r>
              <a:rPr lang="en-US" sz="3452">
                <a:solidFill>
                  <a:srgbClr val="050E9B"/>
                </a:solidFill>
                <a:latin typeface="Monda"/>
                <a:ea typeface="Monda"/>
                <a:cs typeface="Monda"/>
                <a:sym typeface="Monda"/>
              </a:rPr>
              <a:t>Monitor department-wise bed availability</a:t>
            </a:r>
          </a:p>
          <a:p>
            <a:pPr algn="l" marL="745293" indent="-372646" lvl="1">
              <a:lnSpc>
                <a:spcPts val="4832"/>
              </a:lnSpc>
              <a:buFont typeface="Arial"/>
              <a:buChar char="•"/>
            </a:pPr>
            <a:r>
              <a:rPr lang="en-US" sz="3452">
                <a:solidFill>
                  <a:srgbClr val="050E9B"/>
                </a:solidFill>
                <a:latin typeface="Monda"/>
                <a:ea typeface="Monda"/>
                <a:cs typeface="Monda"/>
                <a:sym typeface="Monda"/>
              </a:rPr>
              <a:t>Maintain centralized patient records</a:t>
            </a:r>
          </a:p>
          <a:p>
            <a:pPr algn="l" marL="745293" indent="-372646" lvl="1">
              <a:lnSpc>
                <a:spcPts val="4832"/>
              </a:lnSpc>
              <a:buFont typeface="Arial"/>
              <a:buChar char="•"/>
            </a:pPr>
            <a:r>
              <a:rPr lang="en-US" sz="3452">
                <a:solidFill>
                  <a:srgbClr val="050E9B"/>
                </a:solidFill>
                <a:latin typeface="Monda"/>
                <a:ea typeface="Monda"/>
                <a:cs typeface="Monda"/>
                <a:sym typeface="Monda"/>
              </a:rPr>
              <a:t>Improve hospital efficiency using optimization techniques</a:t>
            </a:r>
          </a:p>
          <a:p>
            <a:pPr algn="l">
              <a:lnSpc>
                <a:spcPts val="4832"/>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29903" y="1549820"/>
            <a:ext cx="11228195" cy="1631831"/>
          </a:xfrm>
          <a:prstGeom prst="rect">
            <a:avLst/>
          </a:prstGeom>
        </p:spPr>
        <p:txBody>
          <a:bodyPr anchor="t" rtlCol="false" tIns="0" lIns="0" bIns="0" rIns="0">
            <a:spAutoFit/>
          </a:bodyPr>
          <a:lstStyle/>
          <a:p>
            <a:pPr algn="ctr">
              <a:lnSpc>
                <a:spcPts val="13375"/>
              </a:lnSpc>
            </a:pPr>
            <a:r>
              <a:rPr lang="en-US" sz="9554">
                <a:solidFill>
                  <a:srgbClr val="050E9B"/>
                </a:solidFill>
                <a:latin typeface="Merriweather Sans"/>
                <a:ea typeface="Merriweather Sans"/>
                <a:cs typeface="Merriweather Sans"/>
                <a:sym typeface="Merriweather Sans"/>
              </a:rPr>
              <a:t>PROJECT CONCEPT</a:t>
            </a:r>
          </a:p>
        </p:txBody>
      </p:sp>
      <p:sp>
        <p:nvSpPr>
          <p:cNvPr name="TextBox 8" id="8"/>
          <p:cNvSpPr txBox="true"/>
          <p:nvPr/>
        </p:nvSpPr>
        <p:spPr>
          <a:xfrm rot="0">
            <a:off x="3331515" y="3124501"/>
            <a:ext cx="11624970" cy="6720440"/>
          </a:xfrm>
          <a:prstGeom prst="rect">
            <a:avLst/>
          </a:prstGeom>
        </p:spPr>
        <p:txBody>
          <a:bodyPr anchor="t" rtlCol="false" tIns="0" lIns="0" bIns="0" rIns="0">
            <a:spAutoFit/>
          </a:bodyPr>
          <a:lstStyle/>
          <a:p>
            <a:pPr algn="l">
              <a:lnSpc>
                <a:spcPts val="4432"/>
              </a:lnSpc>
            </a:pPr>
            <a:r>
              <a:rPr lang="en-US" sz="3165">
                <a:solidFill>
                  <a:srgbClr val="050E9B"/>
                </a:solidFill>
                <a:latin typeface="Monda"/>
                <a:ea typeface="Monda"/>
                <a:cs typeface="Monda"/>
                <a:sym typeface="Monda"/>
              </a:rPr>
              <a:t>The Hospital Bed Allocation System works by collecting patient information and checking the availability of beds across hospital departments.</a:t>
            </a:r>
          </a:p>
          <a:p>
            <a:pPr algn="l">
              <a:lnSpc>
                <a:spcPts val="4432"/>
              </a:lnSpc>
            </a:pPr>
            <a:r>
              <a:rPr lang="en-US" sz="3165">
                <a:solidFill>
                  <a:srgbClr val="050E9B"/>
                </a:solidFill>
                <a:latin typeface="Monda"/>
                <a:ea typeface="Monda"/>
                <a:cs typeface="Monda"/>
                <a:sym typeface="Monda"/>
              </a:rPr>
              <a:t>The allocation engine evaluates multiple parameters before assigning a suitable bed.</a:t>
            </a:r>
          </a:p>
          <a:p>
            <a:pPr algn="l">
              <a:lnSpc>
                <a:spcPts val="4432"/>
              </a:lnSpc>
            </a:pPr>
            <a:r>
              <a:rPr lang="en-US" sz="3165">
                <a:solidFill>
                  <a:srgbClr val="050E9B"/>
                </a:solidFill>
                <a:latin typeface="Monda"/>
                <a:ea typeface="Monda"/>
                <a:cs typeface="Monda"/>
                <a:sym typeface="Monda"/>
              </a:rPr>
              <a:t>Input Parameters</a:t>
            </a:r>
          </a:p>
          <a:p>
            <a:pPr algn="l" marL="683487" indent="-341744" lvl="1">
              <a:lnSpc>
                <a:spcPts val="4432"/>
              </a:lnSpc>
              <a:buFont typeface="Arial"/>
              <a:buChar char="•"/>
            </a:pPr>
            <a:r>
              <a:rPr lang="en-US" sz="3165">
                <a:solidFill>
                  <a:srgbClr val="050E9B"/>
                </a:solidFill>
                <a:latin typeface="Monda"/>
                <a:ea typeface="Monda"/>
                <a:cs typeface="Monda"/>
                <a:sym typeface="Monda"/>
              </a:rPr>
              <a:t>Bed Availability</a:t>
            </a:r>
          </a:p>
          <a:p>
            <a:pPr algn="l" marL="683487" indent="-341744" lvl="1">
              <a:lnSpc>
                <a:spcPts val="4432"/>
              </a:lnSpc>
              <a:buFont typeface="Arial"/>
              <a:buChar char="•"/>
            </a:pPr>
            <a:r>
              <a:rPr lang="en-US" sz="3165">
                <a:solidFill>
                  <a:srgbClr val="050E9B"/>
                </a:solidFill>
                <a:latin typeface="Monda"/>
                <a:ea typeface="Monda"/>
                <a:cs typeface="Monda"/>
                <a:sym typeface="Monda"/>
              </a:rPr>
              <a:t>Patient Priority</a:t>
            </a:r>
          </a:p>
          <a:p>
            <a:pPr algn="l" marL="683487" indent="-341744" lvl="1">
              <a:lnSpc>
                <a:spcPts val="4432"/>
              </a:lnSpc>
              <a:buFont typeface="Arial"/>
              <a:buChar char="•"/>
            </a:pPr>
            <a:r>
              <a:rPr lang="en-US" sz="3165">
                <a:solidFill>
                  <a:srgbClr val="050E9B"/>
                </a:solidFill>
                <a:latin typeface="Monda"/>
                <a:ea typeface="Monda"/>
                <a:cs typeface="Monda"/>
                <a:sym typeface="Monda"/>
              </a:rPr>
              <a:t>Department Capacity</a:t>
            </a:r>
          </a:p>
          <a:p>
            <a:pPr algn="l" marL="683487" indent="-341744" lvl="1">
              <a:lnSpc>
                <a:spcPts val="4432"/>
              </a:lnSpc>
              <a:buFont typeface="Arial"/>
              <a:buChar char="•"/>
            </a:pPr>
            <a:r>
              <a:rPr lang="en-US" sz="3165">
                <a:solidFill>
                  <a:srgbClr val="050E9B"/>
                </a:solidFill>
                <a:latin typeface="Monda"/>
                <a:ea typeface="Monda"/>
                <a:cs typeface="Monda"/>
                <a:sym typeface="Monda"/>
              </a:rPr>
              <a:t>Admission Time</a:t>
            </a:r>
          </a:p>
          <a:p>
            <a:pPr algn="l" marL="683487" indent="-341744" lvl="1">
              <a:lnSpc>
                <a:spcPts val="4432"/>
              </a:lnSpc>
              <a:buFont typeface="Arial"/>
              <a:buChar char="•"/>
            </a:pPr>
            <a:r>
              <a:rPr lang="en-US" sz="3165">
                <a:solidFill>
                  <a:srgbClr val="050E9B"/>
                </a:solidFill>
                <a:latin typeface="Monda"/>
                <a:ea typeface="Monda"/>
                <a:cs typeface="Monda"/>
                <a:sym typeface="Monda"/>
              </a:rPr>
              <a:t>Occupancy Rate</a:t>
            </a:r>
          </a:p>
          <a:p>
            <a:pPr algn="l">
              <a:lnSpc>
                <a:spcPts val="4432"/>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4" id="4"/>
          <p:cNvSpPr txBox="true"/>
          <p:nvPr/>
        </p:nvSpPr>
        <p:spPr>
          <a:xfrm rot="0">
            <a:off x="9525509" y="3544200"/>
            <a:ext cx="5718211" cy="5034515"/>
          </a:xfrm>
          <a:prstGeom prst="rect">
            <a:avLst/>
          </a:prstGeom>
        </p:spPr>
        <p:txBody>
          <a:bodyPr anchor="t" rtlCol="false" tIns="0" lIns="0" bIns="0" rIns="0">
            <a:spAutoFit/>
          </a:bodyPr>
          <a:lstStyle/>
          <a:p>
            <a:pPr algn="l">
              <a:lnSpc>
                <a:spcPts val="4432"/>
              </a:lnSpc>
            </a:pPr>
            <a:r>
              <a:rPr lang="en-US" sz="3165">
                <a:solidFill>
                  <a:srgbClr val="050E9B"/>
                </a:solidFill>
                <a:latin typeface="Monda"/>
                <a:ea typeface="Monda"/>
                <a:cs typeface="Monda"/>
                <a:sym typeface="Monda"/>
              </a:rPr>
              <a:t>Lorem ipsum dolor sit amet, consectetur adipiscing elit. Cras placerat orci dui, nec pulvinar felis cursus id. Sed tellus nisi, varius malesuada est ut, dictum interdum tellus. Sed eget augue quis erat sollicitudin dictum porta eu nulla.</a:t>
            </a:r>
          </a:p>
        </p:txBody>
      </p:sp>
      <p:sp>
        <p:nvSpPr>
          <p:cNvPr name="Freeform 5" id="5"/>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3529903" y="1527310"/>
            <a:ext cx="11228195" cy="1631831"/>
          </a:xfrm>
          <a:prstGeom prst="rect">
            <a:avLst/>
          </a:prstGeom>
        </p:spPr>
        <p:txBody>
          <a:bodyPr anchor="t" rtlCol="false" tIns="0" lIns="0" bIns="0" rIns="0">
            <a:spAutoFit/>
          </a:bodyPr>
          <a:lstStyle/>
          <a:p>
            <a:pPr algn="ctr">
              <a:lnSpc>
                <a:spcPts val="13375"/>
              </a:lnSpc>
            </a:pPr>
            <a:r>
              <a:rPr lang="en-US" sz="9554">
                <a:solidFill>
                  <a:srgbClr val="050E9B"/>
                </a:solidFill>
                <a:latin typeface="Merriweather Sans"/>
                <a:ea typeface="Merriweather Sans"/>
                <a:cs typeface="Merriweather Sans"/>
                <a:sym typeface="Merriweather Sans"/>
              </a:rPr>
              <a:t>METHODOLOGY</a:t>
            </a:r>
          </a:p>
        </p:txBody>
      </p:sp>
      <p:pic>
        <p:nvPicPr>
          <p:cNvPr name="Picture 9" id="9"/>
          <p:cNvPicPr>
            <a:picLocks noChangeAspect="true"/>
          </p:cNvPicPr>
          <p:nvPr/>
        </p:nvPicPr>
        <p:blipFill>
          <a:blip r:embed="rId7"/>
          <a:stretch>
            <a:fillRect/>
          </a:stretch>
        </p:blipFill>
        <p:spPr>
          <a:xfrm rot="0">
            <a:off x="2458835" y="3037755"/>
            <a:ext cx="6763138" cy="6104555"/>
          </a:xfrm>
          <a:prstGeom prst="rect">
            <a:avLst/>
          </a:prstGeom>
        </p:spPr>
      </p:pic>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898822" y="-497257"/>
            <a:ext cx="5226651" cy="4114800"/>
          </a:xfrm>
          <a:custGeom>
            <a:avLst/>
            <a:gdLst/>
            <a:ahLst/>
            <a:cxnLst/>
            <a:rect r="r" b="b" t="t" l="l"/>
            <a:pathLst>
              <a:path h="4114800" w="5226651">
                <a:moveTo>
                  <a:pt x="0" y="0"/>
                </a:moveTo>
                <a:lnTo>
                  <a:pt x="5226651" y="0"/>
                </a:lnTo>
                <a:lnTo>
                  <a:pt x="5226651"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graphicFrame>
        <p:nvGraphicFramePr>
          <p:cNvPr name="Table 7" id="7"/>
          <p:cNvGraphicFramePr>
            <a:graphicFrameLocks noGrp="true"/>
          </p:cNvGraphicFramePr>
          <p:nvPr/>
        </p:nvGraphicFramePr>
        <p:xfrm>
          <a:off x="3260669" y="2392822"/>
          <a:ext cx="11766661" cy="7343775"/>
        </p:xfrm>
        <a:graphic>
          <a:graphicData uri="http://schemas.openxmlformats.org/drawingml/2006/table">
            <a:tbl>
              <a:tblPr/>
              <a:tblGrid>
                <a:gridCol w="5779701"/>
                <a:gridCol w="5986961"/>
              </a:tblGrid>
              <a:tr h="1049111">
                <a:tc>
                  <a:txBody>
                    <a:bodyPr anchor="t" rtlCol="false"/>
                    <a:lstStyle/>
                    <a:p>
                      <a:pPr algn="ctr">
                        <a:lnSpc>
                          <a:spcPts val="2939"/>
                        </a:lnSpc>
                        <a:defRPr/>
                      </a:pPr>
                      <a:r>
                        <a:rPr lang="en-US" sz="2099" b="true">
                          <a:solidFill>
                            <a:srgbClr val="000000"/>
                          </a:solidFill>
                          <a:latin typeface="Merriweather Sans Bold"/>
                          <a:ea typeface="Merriweather Sans Bold"/>
                          <a:cs typeface="Merriweather Sans Bold"/>
                          <a:sym typeface="Merriweather Sans Bold"/>
                        </a:rPr>
                        <a:t>Technology</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99ACFF"/>
                    </a:solidFill>
                  </a:tcPr>
                </a:tc>
                <a:tc>
                  <a:txBody>
                    <a:bodyPr anchor="t" rtlCol="false"/>
                    <a:lstStyle/>
                    <a:p>
                      <a:pPr algn="ctr">
                        <a:lnSpc>
                          <a:spcPts val="2659"/>
                        </a:lnSpc>
                        <a:defRPr/>
                      </a:pPr>
                      <a:r>
                        <a:rPr lang="en-US" sz="1899" b="true">
                          <a:solidFill>
                            <a:srgbClr val="000000"/>
                          </a:solidFill>
                          <a:latin typeface="Merriweather Sans Bold"/>
                          <a:ea typeface="Merriweather Sans Bold"/>
                          <a:cs typeface="Merriweather Sans Bold"/>
                          <a:sym typeface="Merriweather Sans Bold"/>
                        </a:rPr>
                        <a:t>Purpose</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99ACFF"/>
                    </a:solidFill>
                  </a:tcPr>
                </a:tc>
              </a:tr>
              <a:tr h="1049111">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Python</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Backend Programming</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49111">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Flask</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Web Framework</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49111">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MySQL</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Database Management</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49111">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NetworkX</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Graph-based Allocation Algorithm</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49111">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HTML</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Web Interface</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49111">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CSS</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799"/>
                        </a:lnSpc>
                        <a:defRPr/>
                      </a:pPr>
                      <a:r>
                        <a:rPr lang="en-US" sz="1999">
                          <a:solidFill>
                            <a:srgbClr val="000000"/>
                          </a:solidFill>
                          <a:latin typeface="Merriweather Sans"/>
                          <a:ea typeface="Merriweather Sans"/>
                          <a:cs typeface="Merriweather Sans"/>
                          <a:sym typeface="Merriweather Sans"/>
                        </a:rPr>
                        <a:t>Styling and Responsive Design</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bl>
          </a:graphicData>
        </a:graphic>
      </p:graphicFrame>
      <p:sp>
        <p:nvSpPr>
          <p:cNvPr name="TextBox 8" id="8"/>
          <p:cNvSpPr txBox="true"/>
          <p:nvPr/>
        </p:nvSpPr>
        <p:spPr>
          <a:xfrm rot="0">
            <a:off x="3970847" y="1202493"/>
            <a:ext cx="9379689" cy="1057593"/>
          </a:xfrm>
          <a:prstGeom prst="rect">
            <a:avLst/>
          </a:prstGeom>
        </p:spPr>
        <p:txBody>
          <a:bodyPr anchor="t" rtlCol="false" tIns="0" lIns="0" bIns="0" rIns="0">
            <a:spAutoFit/>
          </a:bodyPr>
          <a:lstStyle/>
          <a:p>
            <a:pPr algn="ctr">
              <a:lnSpc>
                <a:spcPts val="8696"/>
              </a:lnSpc>
            </a:pPr>
            <a:r>
              <a:rPr lang="en-US" sz="6211">
                <a:solidFill>
                  <a:srgbClr val="050E9B"/>
                </a:solidFill>
                <a:latin typeface="Merriweather Sans"/>
                <a:ea typeface="Merriweather Sans"/>
                <a:cs typeface="Merriweather Sans"/>
                <a:sym typeface="Merriweather Sans"/>
              </a:rPr>
              <a:t>TECHNOLOGIES USED</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29903" y="1287330"/>
            <a:ext cx="11216121" cy="1090018"/>
          </a:xfrm>
          <a:prstGeom prst="rect">
            <a:avLst/>
          </a:prstGeom>
        </p:spPr>
        <p:txBody>
          <a:bodyPr anchor="t" rtlCol="false" tIns="0" lIns="0" bIns="0" rIns="0">
            <a:spAutoFit/>
          </a:bodyPr>
          <a:lstStyle/>
          <a:p>
            <a:pPr algn="ctr">
              <a:lnSpc>
                <a:spcPts val="8907"/>
              </a:lnSpc>
            </a:pPr>
            <a:r>
              <a:rPr lang="en-US" sz="6362">
                <a:solidFill>
                  <a:srgbClr val="050E9B"/>
                </a:solidFill>
                <a:latin typeface="Merriweather Sans"/>
                <a:ea typeface="Merriweather Sans"/>
                <a:cs typeface="Merriweather Sans"/>
                <a:sym typeface="Merriweather Sans"/>
              </a:rPr>
              <a:t>SYSTEM PARAMETERS</a:t>
            </a:r>
          </a:p>
        </p:txBody>
      </p:sp>
      <p:sp>
        <p:nvSpPr>
          <p:cNvPr name="TextBox 8" id="8"/>
          <p:cNvSpPr txBox="true"/>
          <p:nvPr/>
        </p:nvSpPr>
        <p:spPr>
          <a:xfrm rot="0">
            <a:off x="2365590" y="2537860"/>
            <a:ext cx="12848894" cy="6720440"/>
          </a:xfrm>
          <a:prstGeom prst="rect">
            <a:avLst/>
          </a:prstGeom>
        </p:spPr>
        <p:txBody>
          <a:bodyPr anchor="t" rtlCol="false" tIns="0" lIns="0" bIns="0" rIns="0">
            <a:spAutoFit/>
          </a:bodyPr>
          <a:lstStyle/>
          <a:p>
            <a:pPr algn="l" marL="683487" indent="-341744" lvl="1">
              <a:lnSpc>
                <a:spcPts val="4432"/>
              </a:lnSpc>
              <a:buFont typeface="Arial"/>
              <a:buChar char="•"/>
            </a:pPr>
            <a:r>
              <a:rPr lang="en-US" sz="3165">
                <a:solidFill>
                  <a:srgbClr val="050E9B"/>
                </a:solidFill>
                <a:latin typeface="Monda"/>
                <a:ea typeface="Monda"/>
                <a:cs typeface="Monda"/>
                <a:sym typeface="Monda"/>
              </a:rPr>
              <a:t>Bed Availability</a:t>
            </a:r>
          </a:p>
          <a:p>
            <a:pPr algn="l">
              <a:lnSpc>
                <a:spcPts val="4432"/>
              </a:lnSpc>
            </a:pPr>
            <a:r>
              <a:rPr lang="en-US" sz="3165">
                <a:solidFill>
                  <a:srgbClr val="050E9B"/>
                </a:solidFill>
                <a:latin typeface="Monda"/>
                <a:ea typeface="Monda"/>
                <a:cs typeface="Monda"/>
                <a:sym typeface="Monda"/>
              </a:rPr>
              <a:t>       </a:t>
            </a:r>
            <a:r>
              <a:rPr lang="en-US" sz="3165">
                <a:solidFill>
                  <a:srgbClr val="050E9B"/>
                </a:solidFill>
                <a:latin typeface="Monda"/>
                <a:ea typeface="Monda"/>
                <a:cs typeface="Monda"/>
                <a:sym typeface="Monda"/>
              </a:rPr>
              <a:t>Checks whether beds are vacant or occupied.</a:t>
            </a:r>
          </a:p>
          <a:p>
            <a:pPr algn="l" marL="683487" indent="-341744" lvl="1">
              <a:lnSpc>
                <a:spcPts val="4432"/>
              </a:lnSpc>
              <a:buFont typeface="Arial"/>
              <a:buChar char="•"/>
            </a:pPr>
            <a:r>
              <a:rPr lang="en-US" sz="3165">
                <a:solidFill>
                  <a:srgbClr val="050E9B"/>
                </a:solidFill>
                <a:latin typeface="Monda"/>
                <a:ea typeface="Monda"/>
                <a:cs typeface="Monda"/>
                <a:sym typeface="Monda"/>
              </a:rPr>
              <a:t>Patient Priority</a:t>
            </a:r>
          </a:p>
          <a:p>
            <a:pPr algn="l">
              <a:lnSpc>
                <a:spcPts val="4432"/>
              </a:lnSpc>
            </a:pPr>
            <a:r>
              <a:rPr lang="en-US" sz="3165">
                <a:solidFill>
                  <a:srgbClr val="050E9B"/>
                </a:solidFill>
                <a:latin typeface="Monda"/>
                <a:ea typeface="Monda"/>
                <a:cs typeface="Monda"/>
                <a:sym typeface="Monda"/>
              </a:rPr>
              <a:t>        </a:t>
            </a:r>
            <a:r>
              <a:rPr lang="en-US" sz="3165">
                <a:solidFill>
                  <a:srgbClr val="050E9B"/>
                </a:solidFill>
                <a:latin typeface="Monda"/>
                <a:ea typeface="Monda"/>
                <a:cs typeface="Monda"/>
                <a:sym typeface="Monda"/>
              </a:rPr>
              <a:t>Emergency patients receive higher priority.</a:t>
            </a:r>
          </a:p>
          <a:p>
            <a:pPr algn="l" marL="683487" indent="-341744" lvl="1">
              <a:lnSpc>
                <a:spcPts val="4432"/>
              </a:lnSpc>
              <a:buFont typeface="Arial"/>
              <a:buChar char="•"/>
            </a:pPr>
            <a:r>
              <a:rPr lang="en-US" sz="3165">
                <a:solidFill>
                  <a:srgbClr val="050E9B"/>
                </a:solidFill>
                <a:latin typeface="Monda"/>
                <a:ea typeface="Monda"/>
                <a:cs typeface="Monda"/>
                <a:sym typeface="Monda"/>
              </a:rPr>
              <a:t>Department Capacity</a:t>
            </a:r>
          </a:p>
          <a:p>
            <a:pPr algn="l">
              <a:lnSpc>
                <a:spcPts val="4432"/>
              </a:lnSpc>
            </a:pPr>
            <a:r>
              <a:rPr lang="en-US" sz="3165">
                <a:solidFill>
                  <a:srgbClr val="050E9B"/>
                </a:solidFill>
                <a:latin typeface="Monda"/>
                <a:ea typeface="Monda"/>
                <a:cs typeface="Monda"/>
                <a:sym typeface="Monda"/>
              </a:rPr>
              <a:t>       </a:t>
            </a:r>
            <a:r>
              <a:rPr lang="en-US" sz="3165">
                <a:solidFill>
                  <a:srgbClr val="050E9B"/>
                </a:solidFill>
                <a:latin typeface="Monda"/>
                <a:ea typeface="Monda"/>
                <a:cs typeface="Monda"/>
                <a:sym typeface="Monda"/>
              </a:rPr>
              <a:t>Ensures each department does not exceed its maximum capacity.</a:t>
            </a:r>
          </a:p>
          <a:p>
            <a:pPr algn="l" marL="683487" indent="-341744" lvl="1">
              <a:lnSpc>
                <a:spcPts val="4432"/>
              </a:lnSpc>
              <a:buFont typeface="Arial"/>
              <a:buChar char="•"/>
            </a:pPr>
            <a:r>
              <a:rPr lang="en-US" sz="3165">
                <a:solidFill>
                  <a:srgbClr val="050E9B"/>
                </a:solidFill>
                <a:latin typeface="Monda"/>
                <a:ea typeface="Monda"/>
                <a:cs typeface="Monda"/>
                <a:sym typeface="Monda"/>
              </a:rPr>
              <a:t>Admission Time</a:t>
            </a:r>
          </a:p>
          <a:p>
            <a:pPr algn="l">
              <a:lnSpc>
                <a:spcPts val="4432"/>
              </a:lnSpc>
            </a:pPr>
            <a:r>
              <a:rPr lang="en-US" sz="3165">
                <a:solidFill>
                  <a:srgbClr val="050E9B"/>
                </a:solidFill>
                <a:latin typeface="Monda"/>
                <a:ea typeface="Monda"/>
                <a:cs typeface="Monda"/>
                <a:sym typeface="Monda"/>
              </a:rPr>
              <a:t>       </a:t>
            </a:r>
            <a:r>
              <a:rPr lang="en-US" sz="3165">
                <a:solidFill>
                  <a:srgbClr val="050E9B"/>
                </a:solidFill>
                <a:latin typeface="Monda"/>
                <a:ea typeface="Monda"/>
                <a:cs typeface="Monda"/>
                <a:sym typeface="Monda"/>
              </a:rPr>
              <a:t>Patients waiting longer are given preference.</a:t>
            </a:r>
          </a:p>
          <a:p>
            <a:pPr algn="l" marL="683487" indent="-341744" lvl="1">
              <a:lnSpc>
                <a:spcPts val="4432"/>
              </a:lnSpc>
              <a:buFont typeface="Arial"/>
              <a:buChar char="•"/>
            </a:pPr>
            <a:r>
              <a:rPr lang="en-US" sz="3165">
                <a:solidFill>
                  <a:srgbClr val="050E9B"/>
                </a:solidFill>
                <a:latin typeface="Monda"/>
                <a:ea typeface="Monda"/>
                <a:cs typeface="Monda"/>
                <a:sym typeface="Monda"/>
              </a:rPr>
              <a:t>Occupancy Rate</a:t>
            </a:r>
          </a:p>
          <a:p>
            <a:pPr algn="l">
              <a:lnSpc>
                <a:spcPts val="4432"/>
              </a:lnSpc>
            </a:pPr>
            <a:r>
              <a:rPr lang="en-US" sz="3165">
                <a:solidFill>
                  <a:srgbClr val="050E9B"/>
                </a:solidFill>
                <a:latin typeface="Monda"/>
                <a:ea typeface="Monda"/>
                <a:cs typeface="Monda"/>
                <a:sym typeface="Monda"/>
              </a:rPr>
              <a:t>       </a:t>
            </a:r>
            <a:r>
              <a:rPr lang="en-US" sz="3165">
                <a:solidFill>
                  <a:srgbClr val="050E9B"/>
                </a:solidFill>
                <a:latin typeface="Monda"/>
                <a:ea typeface="Monda"/>
                <a:cs typeface="Monda"/>
                <a:sym typeface="Monda"/>
              </a:rPr>
              <a:t>Monitors overall hospital utilization.</a:t>
            </a:r>
          </a:p>
          <a:p>
            <a:pPr algn="l">
              <a:lnSpc>
                <a:spcPts val="4432"/>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485657" y="942975"/>
            <a:ext cx="10879298" cy="1657917"/>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MODULE 1 – PATIENT MANAGEMENT</a:t>
            </a:r>
          </a:p>
        </p:txBody>
      </p:sp>
      <p:sp>
        <p:nvSpPr>
          <p:cNvPr name="TextBox 8" id="8"/>
          <p:cNvSpPr txBox="true"/>
          <p:nvPr/>
        </p:nvSpPr>
        <p:spPr>
          <a:xfrm rot="0">
            <a:off x="2880448" y="2814856"/>
            <a:ext cx="12848894" cy="6720440"/>
          </a:xfrm>
          <a:prstGeom prst="rect">
            <a:avLst/>
          </a:prstGeom>
        </p:spPr>
        <p:txBody>
          <a:bodyPr anchor="t" rtlCol="false" tIns="0" lIns="0" bIns="0" rIns="0">
            <a:spAutoFit/>
          </a:bodyPr>
          <a:lstStyle/>
          <a:p>
            <a:pPr algn="l">
              <a:lnSpc>
                <a:spcPts val="4432"/>
              </a:lnSpc>
            </a:pPr>
            <a:r>
              <a:rPr lang="en-US" sz="3165">
                <a:solidFill>
                  <a:srgbClr val="050E9B"/>
                </a:solidFill>
                <a:latin typeface="Monda"/>
                <a:ea typeface="Monda"/>
                <a:cs typeface="Monda"/>
                <a:sym typeface="Monda"/>
              </a:rPr>
              <a:t>Functions</a:t>
            </a:r>
          </a:p>
          <a:p>
            <a:pPr algn="l" marL="683487" indent="-341744" lvl="1">
              <a:lnSpc>
                <a:spcPts val="4432"/>
              </a:lnSpc>
              <a:buFont typeface="Arial"/>
              <a:buChar char="•"/>
            </a:pPr>
            <a:r>
              <a:rPr lang="en-US" sz="3165">
                <a:solidFill>
                  <a:srgbClr val="050E9B"/>
                </a:solidFill>
                <a:latin typeface="Monda"/>
                <a:ea typeface="Monda"/>
                <a:cs typeface="Monda"/>
                <a:sym typeface="Monda"/>
              </a:rPr>
              <a:t>Patient Registration</a:t>
            </a:r>
          </a:p>
          <a:p>
            <a:pPr algn="l" marL="683487" indent="-341744" lvl="1">
              <a:lnSpc>
                <a:spcPts val="4432"/>
              </a:lnSpc>
              <a:buFont typeface="Arial"/>
              <a:buChar char="•"/>
            </a:pPr>
            <a:r>
              <a:rPr lang="en-US" sz="3165">
                <a:solidFill>
                  <a:srgbClr val="050E9B"/>
                </a:solidFill>
                <a:latin typeface="Monda"/>
                <a:ea typeface="Monda"/>
                <a:cs typeface="Monda"/>
                <a:sym typeface="Monda"/>
              </a:rPr>
              <a:t>Patient Details Storage</a:t>
            </a:r>
          </a:p>
          <a:p>
            <a:pPr algn="l" marL="683487" indent="-341744" lvl="1">
              <a:lnSpc>
                <a:spcPts val="4432"/>
              </a:lnSpc>
              <a:buFont typeface="Arial"/>
              <a:buChar char="•"/>
            </a:pPr>
            <a:r>
              <a:rPr lang="en-US" sz="3165">
                <a:solidFill>
                  <a:srgbClr val="050E9B"/>
                </a:solidFill>
                <a:latin typeface="Monda"/>
                <a:ea typeface="Monda"/>
                <a:cs typeface="Monda"/>
                <a:sym typeface="Monda"/>
              </a:rPr>
              <a:t>Medical History</a:t>
            </a:r>
          </a:p>
          <a:p>
            <a:pPr algn="l" marL="683487" indent="-341744" lvl="1">
              <a:lnSpc>
                <a:spcPts val="4432"/>
              </a:lnSpc>
              <a:buFont typeface="Arial"/>
              <a:buChar char="•"/>
            </a:pPr>
            <a:r>
              <a:rPr lang="en-US" sz="3165">
                <a:solidFill>
                  <a:srgbClr val="050E9B"/>
                </a:solidFill>
                <a:latin typeface="Monda"/>
                <a:ea typeface="Monda"/>
                <a:cs typeface="Monda"/>
                <a:sym typeface="Monda"/>
              </a:rPr>
              <a:t>Admission Information</a:t>
            </a:r>
          </a:p>
          <a:p>
            <a:pPr algn="l" marL="683487" indent="-341744" lvl="1">
              <a:lnSpc>
                <a:spcPts val="4432"/>
              </a:lnSpc>
              <a:buFont typeface="Arial"/>
              <a:buChar char="•"/>
            </a:pPr>
            <a:r>
              <a:rPr lang="en-US" sz="3165">
                <a:solidFill>
                  <a:srgbClr val="050E9B"/>
                </a:solidFill>
                <a:latin typeface="Monda"/>
                <a:ea typeface="Monda"/>
                <a:cs typeface="Monda"/>
                <a:sym typeface="Monda"/>
              </a:rPr>
              <a:t>Priority Classification</a:t>
            </a:r>
          </a:p>
          <a:p>
            <a:pPr algn="l">
              <a:lnSpc>
                <a:spcPts val="4432"/>
              </a:lnSpc>
            </a:pPr>
            <a:r>
              <a:rPr lang="en-US" sz="3165">
                <a:solidFill>
                  <a:srgbClr val="050E9B"/>
                </a:solidFill>
                <a:latin typeface="Monda"/>
                <a:ea typeface="Monda"/>
                <a:cs typeface="Monda"/>
                <a:sym typeface="Monda"/>
              </a:rPr>
              <a:t>Input</a:t>
            </a:r>
          </a:p>
          <a:p>
            <a:pPr algn="l">
              <a:lnSpc>
                <a:spcPts val="4432"/>
              </a:lnSpc>
            </a:pPr>
            <a:r>
              <a:rPr lang="en-US" sz="3165">
                <a:solidFill>
                  <a:srgbClr val="050E9B"/>
                </a:solidFill>
                <a:latin typeface="Monda"/>
                <a:ea typeface="Monda"/>
                <a:cs typeface="Monda"/>
                <a:sym typeface="Monda"/>
              </a:rPr>
              <a:t>Patient Information</a:t>
            </a:r>
          </a:p>
          <a:p>
            <a:pPr algn="l">
              <a:lnSpc>
                <a:spcPts val="4432"/>
              </a:lnSpc>
            </a:pPr>
            <a:r>
              <a:rPr lang="en-US" sz="3165">
                <a:solidFill>
                  <a:srgbClr val="050E9B"/>
                </a:solidFill>
                <a:latin typeface="Monda"/>
                <a:ea typeface="Monda"/>
                <a:cs typeface="Monda"/>
                <a:sym typeface="Monda"/>
              </a:rPr>
              <a:t>↓</a:t>
            </a:r>
          </a:p>
          <a:p>
            <a:pPr algn="l">
              <a:lnSpc>
                <a:spcPts val="4432"/>
              </a:lnSpc>
            </a:pPr>
            <a:r>
              <a:rPr lang="en-US" sz="3165">
                <a:solidFill>
                  <a:srgbClr val="050E9B"/>
                </a:solidFill>
                <a:latin typeface="Monda"/>
                <a:ea typeface="Monda"/>
                <a:cs typeface="Monda"/>
                <a:sym typeface="Monda"/>
              </a:rPr>
              <a:t>Output</a:t>
            </a:r>
          </a:p>
          <a:p>
            <a:pPr algn="l">
              <a:lnSpc>
                <a:spcPts val="4432"/>
              </a:lnSpc>
            </a:pPr>
            <a:r>
              <a:rPr lang="en-US" sz="3165">
                <a:solidFill>
                  <a:srgbClr val="050E9B"/>
                </a:solidFill>
                <a:latin typeface="Monda"/>
                <a:ea typeface="Monda"/>
                <a:cs typeface="Monda"/>
                <a:sym typeface="Monda"/>
              </a:rPr>
              <a:t>Patient Record Created</a:t>
            </a:r>
          </a:p>
          <a:p>
            <a:pPr algn="l">
              <a:lnSpc>
                <a:spcPts val="4432"/>
              </a:lnSpc>
              <a:spcBef>
                <a:spcPct val="0"/>
              </a:spcBef>
            </a:pP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07780" y="942975"/>
            <a:ext cx="10879298" cy="1657917"/>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MODULE 2 – BED MONITORING &amp; AVAILABILITY</a:t>
            </a:r>
          </a:p>
        </p:txBody>
      </p:sp>
      <p:sp>
        <p:nvSpPr>
          <p:cNvPr name="TextBox 8" id="8"/>
          <p:cNvSpPr txBox="true"/>
          <p:nvPr/>
        </p:nvSpPr>
        <p:spPr>
          <a:xfrm rot="0">
            <a:off x="2719553" y="2903347"/>
            <a:ext cx="12848894" cy="6720440"/>
          </a:xfrm>
          <a:prstGeom prst="rect">
            <a:avLst/>
          </a:prstGeom>
        </p:spPr>
        <p:txBody>
          <a:bodyPr anchor="t" rtlCol="false" tIns="0" lIns="0" bIns="0" rIns="0">
            <a:spAutoFit/>
          </a:bodyPr>
          <a:lstStyle/>
          <a:p>
            <a:pPr algn="just">
              <a:lnSpc>
                <a:spcPts val="4432"/>
              </a:lnSpc>
            </a:pPr>
            <a:r>
              <a:rPr lang="en-US" sz="3165">
                <a:solidFill>
                  <a:srgbClr val="050E9B"/>
                </a:solidFill>
                <a:latin typeface="Monda"/>
                <a:ea typeface="Monda"/>
                <a:cs typeface="Monda"/>
                <a:sym typeface="Monda"/>
              </a:rPr>
              <a:t>Functions</a:t>
            </a:r>
          </a:p>
          <a:p>
            <a:pPr algn="just" marL="683487" indent="-341744" lvl="1">
              <a:lnSpc>
                <a:spcPts val="4432"/>
              </a:lnSpc>
              <a:buFont typeface="Arial"/>
              <a:buChar char="•"/>
            </a:pPr>
            <a:r>
              <a:rPr lang="en-US" sz="3165">
                <a:solidFill>
                  <a:srgbClr val="050E9B"/>
                </a:solidFill>
                <a:latin typeface="Monda"/>
                <a:ea typeface="Monda"/>
                <a:cs typeface="Monda"/>
                <a:sym typeface="Monda"/>
              </a:rPr>
              <a:t>Track Available Beds</a:t>
            </a:r>
          </a:p>
          <a:p>
            <a:pPr algn="just" marL="683487" indent="-341744" lvl="1">
              <a:lnSpc>
                <a:spcPts val="4432"/>
              </a:lnSpc>
              <a:buFont typeface="Arial"/>
              <a:buChar char="•"/>
            </a:pPr>
            <a:r>
              <a:rPr lang="en-US" sz="3165">
                <a:solidFill>
                  <a:srgbClr val="050E9B"/>
                </a:solidFill>
                <a:latin typeface="Monda"/>
                <a:ea typeface="Monda"/>
                <a:cs typeface="Monda"/>
                <a:sym typeface="Monda"/>
              </a:rPr>
              <a:t>Department-wise Bed Status</a:t>
            </a:r>
          </a:p>
          <a:p>
            <a:pPr algn="just" marL="683487" indent="-341744" lvl="1">
              <a:lnSpc>
                <a:spcPts val="4432"/>
              </a:lnSpc>
              <a:buFont typeface="Arial"/>
              <a:buChar char="•"/>
            </a:pPr>
            <a:r>
              <a:rPr lang="en-US" sz="3165">
                <a:solidFill>
                  <a:srgbClr val="050E9B"/>
                </a:solidFill>
                <a:latin typeface="Monda"/>
                <a:ea typeface="Monda"/>
                <a:cs typeface="Monda"/>
                <a:sym typeface="Monda"/>
              </a:rPr>
              <a:t>Occupancy Monitoring</a:t>
            </a:r>
          </a:p>
          <a:p>
            <a:pPr algn="just" marL="683487" indent="-341744" lvl="1">
              <a:lnSpc>
                <a:spcPts val="4432"/>
              </a:lnSpc>
              <a:buFont typeface="Arial"/>
              <a:buChar char="•"/>
            </a:pPr>
            <a:r>
              <a:rPr lang="en-US" sz="3165">
                <a:solidFill>
                  <a:srgbClr val="050E9B"/>
                </a:solidFill>
                <a:latin typeface="Monda"/>
                <a:ea typeface="Monda"/>
                <a:cs typeface="Monda"/>
                <a:sym typeface="Monda"/>
              </a:rPr>
              <a:t>Real-time Bed Updates</a:t>
            </a:r>
          </a:p>
          <a:p>
            <a:pPr algn="just">
              <a:lnSpc>
                <a:spcPts val="4432"/>
              </a:lnSpc>
            </a:pPr>
            <a:r>
              <a:rPr lang="en-US" sz="3165">
                <a:solidFill>
                  <a:srgbClr val="050E9B"/>
                </a:solidFill>
                <a:latin typeface="Monda"/>
                <a:ea typeface="Monda"/>
                <a:cs typeface="Monda"/>
                <a:sym typeface="Monda"/>
              </a:rPr>
              <a:t>Parameters Used</a:t>
            </a:r>
          </a:p>
          <a:p>
            <a:pPr algn="just" marL="683487" indent="-341744" lvl="1">
              <a:lnSpc>
                <a:spcPts val="4432"/>
              </a:lnSpc>
              <a:buFont typeface="Arial"/>
              <a:buChar char="•"/>
            </a:pPr>
            <a:r>
              <a:rPr lang="en-US" sz="3165">
                <a:solidFill>
                  <a:srgbClr val="050E9B"/>
                </a:solidFill>
                <a:latin typeface="Monda"/>
                <a:ea typeface="Monda"/>
                <a:cs typeface="Monda"/>
                <a:sym typeface="Monda"/>
              </a:rPr>
              <a:t>Bed Availability</a:t>
            </a:r>
          </a:p>
          <a:p>
            <a:pPr algn="just" marL="683487" indent="-341744" lvl="1">
              <a:lnSpc>
                <a:spcPts val="4432"/>
              </a:lnSpc>
              <a:buFont typeface="Arial"/>
              <a:buChar char="•"/>
            </a:pPr>
            <a:r>
              <a:rPr lang="en-US" sz="3165">
                <a:solidFill>
                  <a:srgbClr val="050E9B"/>
                </a:solidFill>
                <a:latin typeface="Monda"/>
                <a:ea typeface="Monda"/>
                <a:cs typeface="Monda"/>
                <a:sym typeface="Monda"/>
              </a:rPr>
              <a:t>Department Capacity</a:t>
            </a:r>
          </a:p>
          <a:p>
            <a:pPr algn="just" marL="683487" indent="-341744" lvl="1">
              <a:lnSpc>
                <a:spcPts val="4432"/>
              </a:lnSpc>
              <a:buFont typeface="Arial"/>
              <a:buChar char="•"/>
            </a:pPr>
            <a:r>
              <a:rPr lang="en-US" sz="3165">
                <a:solidFill>
                  <a:srgbClr val="050E9B"/>
                </a:solidFill>
                <a:latin typeface="Monda"/>
                <a:ea typeface="Monda"/>
                <a:cs typeface="Monda"/>
                <a:sym typeface="Monda"/>
              </a:rPr>
              <a:t>Occupancy Rate</a:t>
            </a:r>
          </a:p>
          <a:p>
            <a:pPr algn="just">
              <a:lnSpc>
                <a:spcPts val="4432"/>
              </a:lnSpc>
            </a:pPr>
            <a:r>
              <a:rPr lang="en-US" sz="3165">
                <a:solidFill>
                  <a:srgbClr val="050E9B"/>
                </a:solidFill>
                <a:latin typeface="Monda"/>
                <a:ea typeface="Monda"/>
                <a:cs typeface="Monda"/>
                <a:sym typeface="Monda"/>
              </a:rPr>
              <a:t>Output</a:t>
            </a:r>
          </a:p>
          <a:p>
            <a:pPr algn="just">
              <a:lnSpc>
                <a:spcPts val="4432"/>
              </a:lnSpc>
            </a:pPr>
            <a:r>
              <a:rPr lang="en-US" sz="3165">
                <a:solidFill>
                  <a:srgbClr val="050E9B"/>
                </a:solidFill>
                <a:latin typeface="Monda"/>
                <a:ea typeface="Monda"/>
                <a:cs typeface="Monda"/>
                <a:sym typeface="Monda"/>
              </a:rPr>
              <a:t>Updated Bed Status</a:t>
            </a:r>
          </a:p>
          <a:p>
            <a:pPr algn="just">
              <a:lnSpc>
                <a:spcPts val="4432"/>
              </a:lnSpc>
              <a:spcBef>
                <a:spcPct val="0"/>
              </a:spcBef>
            </a:pP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07780" y="942975"/>
            <a:ext cx="10879298" cy="1657917"/>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MODULE 3 – INTELLIGENT BED ALLOCATION ENGINE</a:t>
            </a:r>
          </a:p>
        </p:txBody>
      </p:sp>
      <p:sp>
        <p:nvSpPr>
          <p:cNvPr name="TextBox 8" id="8"/>
          <p:cNvSpPr txBox="true"/>
          <p:nvPr/>
        </p:nvSpPr>
        <p:spPr>
          <a:xfrm rot="0">
            <a:off x="2719553" y="2903347"/>
            <a:ext cx="12848894" cy="7282415"/>
          </a:xfrm>
          <a:prstGeom prst="rect">
            <a:avLst/>
          </a:prstGeom>
        </p:spPr>
        <p:txBody>
          <a:bodyPr anchor="t" rtlCol="false" tIns="0" lIns="0" bIns="0" rIns="0">
            <a:spAutoFit/>
          </a:bodyPr>
          <a:lstStyle/>
          <a:p>
            <a:pPr algn="just">
              <a:lnSpc>
                <a:spcPts val="4432"/>
              </a:lnSpc>
            </a:pPr>
            <a:r>
              <a:rPr lang="en-US" sz="3165">
                <a:solidFill>
                  <a:srgbClr val="050E9B"/>
                </a:solidFill>
                <a:latin typeface="Monda"/>
                <a:ea typeface="Monda"/>
                <a:cs typeface="Monda"/>
                <a:sym typeface="Monda"/>
              </a:rPr>
              <a:t>Functions</a:t>
            </a:r>
          </a:p>
          <a:p>
            <a:pPr algn="just" marL="683487" indent="-341744" lvl="1">
              <a:lnSpc>
                <a:spcPts val="4432"/>
              </a:lnSpc>
              <a:buFont typeface="Arial"/>
              <a:buChar char="•"/>
            </a:pPr>
            <a:r>
              <a:rPr lang="en-US" sz="3165">
                <a:solidFill>
                  <a:srgbClr val="050E9B"/>
                </a:solidFill>
                <a:latin typeface="Monda"/>
                <a:ea typeface="Monda"/>
                <a:cs typeface="Monda"/>
                <a:sym typeface="Monda"/>
              </a:rPr>
              <a:t>An</a:t>
            </a:r>
            <a:r>
              <a:rPr lang="en-US" sz="3165">
                <a:solidFill>
                  <a:srgbClr val="050E9B"/>
                </a:solidFill>
                <a:latin typeface="Monda"/>
                <a:ea typeface="Monda"/>
                <a:cs typeface="Monda"/>
                <a:sym typeface="Monda"/>
              </a:rPr>
              <a:t>alyze Patient Priority</a:t>
            </a:r>
          </a:p>
          <a:p>
            <a:pPr algn="just" marL="683487" indent="-341744" lvl="1">
              <a:lnSpc>
                <a:spcPts val="4432"/>
              </a:lnSpc>
              <a:buFont typeface="Arial"/>
              <a:buChar char="•"/>
            </a:pPr>
            <a:r>
              <a:rPr lang="en-US" sz="3165">
                <a:solidFill>
                  <a:srgbClr val="050E9B"/>
                </a:solidFill>
                <a:latin typeface="Monda"/>
                <a:ea typeface="Monda"/>
                <a:cs typeface="Monda"/>
                <a:sym typeface="Monda"/>
              </a:rPr>
              <a:t>Compare Department Capacity</a:t>
            </a:r>
          </a:p>
          <a:p>
            <a:pPr algn="just" marL="683487" indent="-341744" lvl="1">
              <a:lnSpc>
                <a:spcPts val="4432"/>
              </a:lnSpc>
              <a:buFont typeface="Arial"/>
              <a:buChar char="•"/>
            </a:pPr>
            <a:r>
              <a:rPr lang="en-US" sz="3165">
                <a:solidFill>
                  <a:srgbClr val="050E9B"/>
                </a:solidFill>
                <a:latin typeface="Monda"/>
                <a:ea typeface="Monda"/>
                <a:cs typeface="Monda"/>
                <a:sym typeface="Monda"/>
              </a:rPr>
              <a:t>Check Available Beds</a:t>
            </a:r>
          </a:p>
          <a:p>
            <a:pPr algn="just" marL="683487" indent="-341744" lvl="1">
              <a:lnSpc>
                <a:spcPts val="4432"/>
              </a:lnSpc>
              <a:buFont typeface="Arial"/>
              <a:buChar char="•"/>
            </a:pPr>
            <a:r>
              <a:rPr lang="en-US" sz="3165">
                <a:solidFill>
                  <a:srgbClr val="050E9B"/>
                </a:solidFill>
                <a:latin typeface="Monda"/>
                <a:ea typeface="Monda"/>
                <a:cs typeface="Monda"/>
                <a:sym typeface="Monda"/>
              </a:rPr>
              <a:t>Allo</a:t>
            </a:r>
            <a:r>
              <a:rPr lang="en-US" sz="3165">
                <a:solidFill>
                  <a:srgbClr val="050E9B"/>
                </a:solidFill>
                <a:latin typeface="Monda"/>
                <a:ea typeface="Monda"/>
                <a:cs typeface="Monda"/>
                <a:sym typeface="Monda"/>
              </a:rPr>
              <a:t>cate Optimal Bed</a:t>
            </a:r>
          </a:p>
          <a:p>
            <a:pPr algn="just" marL="683487" indent="-341744" lvl="1">
              <a:lnSpc>
                <a:spcPts val="4432"/>
              </a:lnSpc>
              <a:buFont typeface="Arial"/>
              <a:buChar char="•"/>
            </a:pPr>
            <a:r>
              <a:rPr lang="en-US" sz="3165">
                <a:solidFill>
                  <a:srgbClr val="050E9B"/>
                </a:solidFill>
                <a:latin typeface="Monda"/>
                <a:ea typeface="Monda"/>
                <a:cs typeface="Monda"/>
                <a:sym typeface="Monda"/>
              </a:rPr>
              <a:t>Update Database Automatically</a:t>
            </a:r>
          </a:p>
          <a:p>
            <a:pPr algn="just">
              <a:lnSpc>
                <a:spcPts val="4432"/>
              </a:lnSpc>
            </a:pPr>
            <a:r>
              <a:rPr lang="en-US" sz="3165">
                <a:solidFill>
                  <a:srgbClr val="050E9B"/>
                </a:solidFill>
                <a:latin typeface="Monda"/>
                <a:ea typeface="Monda"/>
                <a:cs typeface="Monda"/>
                <a:sym typeface="Monda"/>
              </a:rPr>
              <a:t>Us</a:t>
            </a:r>
            <a:r>
              <a:rPr lang="en-US" sz="3165">
                <a:solidFill>
                  <a:srgbClr val="050E9B"/>
                </a:solidFill>
                <a:latin typeface="Monda"/>
                <a:ea typeface="Monda"/>
                <a:cs typeface="Monda"/>
                <a:sym typeface="Monda"/>
              </a:rPr>
              <a:t>es</a:t>
            </a:r>
          </a:p>
          <a:p>
            <a:pPr algn="just" marL="683487" indent="-341744" lvl="1">
              <a:lnSpc>
                <a:spcPts val="4432"/>
              </a:lnSpc>
              <a:buFont typeface="Arial"/>
              <a:buChar char="•"/>
            </a:pPr>
            <a:r>
              <a:rPr lang="en-US" sz="3165">
                <a:solidFill>
                  <a:srgbClr val="050E9B"/>
                </a:solidFill>
                <a:latin typeface="Monda"/>
                <a:ea typeface="Monda"/>
                <a:cs typeface="Monda"/>
                <a:sym typeface="Monda"/>
              </a:rPr>
              <a:t>Graph Theory</a:t>
            </a:r>
          </a:p>
          <a:p>
            <a:pPr algn="just" marL="683487" indent="-341744" lvl="1">
              <a:lnSpc>
                <a:spcPts val="4432"/>
              </a:lnSpc>
              <a:buFont typeface="Arial"/>
              <a:buChar char="•"/>
            </a:pPr>
            <a:r>
              <a:rPr lang="en-US" sz="3165">
                <a:solidFill>
                  <a:srgbClr val="050E9B"/>
                </a:solidFill>
                <a:latin typeface="Monda"/>
                <a:ea typeface="Monda"/>
                <a:cs typeface="Monda"/>
                <a:sym typeface="Monda"/>
              </a:rPr>
              <a:t>Optimization</a:t>
            </a:r>
          </a:p>
          <a:p>
            <a:pPr algn="just" marL="683487" indent="-341744" lvl="1">
              <a:lnSpc>
                <a:spcPts val="4432"/>
              </a:lnSpc>
              <a:buFont typeface="Arial"/>
              <a:buChar char="•"/>
            </a:pPr>
            <a:r>
              <a:rPr lang="en-US" sz="3165">
                <a:solidFill>
                  <a:srgbClr val="050E9B"/>
                </a:solidFill>
                <a:latin typeface="Monda"/>
                <a:ea typeface="Monda"/>
                <a:cs typeface="Monda"/>
                <a:sym typeface="Monda"/>
              </a:rPr>
              <a:t>Priority Queue Concepts</a:t>
            </a:r>
          </a:p>
          <a:p>
            <a:pPr algn="just">
              <a:lnSpc>
                <a:spcPts val="4432"/>
              </a:lnSpc>
            </a:pPr>
            <a:r>
              <a:rPr lang="en-US" sz="3165">
                <a:solidFill>
                  <a:srgbClr val="050E9B"/>
                </a:solidFill>
                <a:latin typeface="Monda"/>
                <a:ea typeface="Monda"/>
                <a:cs typeface="Monda"/>
                <a:sym typeface="Monda"/>
              </a:rPr>
              <a:t>Output</a:t>
            </a:r>
          </a:p>
          <a:p>
            <a:pPr algn="just">
              <a:lnSpc>
                <a:spcPts val="4432"/>
              </a:lnSpc>
            </a:pPr>
            <a:r>
              <a:rPr lang="en-US" sz="3165">
                <a:solidFill>
                  <a:srgbClr val="050E9B"/>
                </a:solidFill>
                <a:latin typeface="Monda"/>
                <a:ea typeface="Monda"/>
                <a:cs typeface="Monda"/>
                <a:sym typeface="Monda"/>
              </a:rPr>
              <a:t>B</a:t>
            </a:r>
            <a:r>
              <a:rPr lang="en-US" sz="3165">
                <a:solidFill>
                  <a:srgbClr val="050E9B"/>
                </a:solidFill>
                <a:latin typeface="Monda"/>
                <a:ea typeface="Monda"/>
                <a:cs typeface="Monda"/>
                <a:sym typeface="Monda"/>
              </a:rPr>
              <a:t>ed Successfully Allocated</a:t>
            </a:r>
          </a:p>
          <a:p>
            <a:pPr algn="just">
              <a:lnSpc>
                <a:spcPts val="4432"/>
              </a:lnSpc>
              <a:spcBef>
                <a:spcPct val="0"/>
              </a:spcBef>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642026" y="942975"/>
            <a:ext cx="10879298" cy="811153"/>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SYSTEM WORKFLOW</a:t>
            </a:r>
          </a:p>
        </p:txBody>
      </p:sp>
      <p:sp>
        <p:nvSpPr>
          <p:cNvPr name="TextBox 8" id="8"/>
          <p:cNvSpPr txBox="true"/>
          <p:nvPr/>
        </p:nvSpPr>
        <p:spPr>
          <a:xfrm rot="0">
            <a:off x="3579954" y="2093684"/>
            <a:ext cx="10044724" cy="8193316"/>
          </a:xfrm>
          <a:prstGeom prst="rect">
            <a:avLst/>
          </a:prstGeom>
        </p:spPr>
        <p:txBody>
          <a:bodyPr anchor="t" rtlCol="false" tIns="0" lIns="0" bIns="0" rIns="0">
            <a:spAutoFit/>
          </a:bodyPr>
          <a:lstStyle/>
          <a:p>
            <a:pPr algn="ctr">
              <a:lnSpc>
                <a:spcPts val="2260"/>
              </a:lnSpc>
            </a:pPr>
            <a:r>
              <a:rPr lang="en-US" sz="1614">
                <a:solidFill>
                  <a:srgbClr val="050E9B"/>
                </a:solidFill>
                <a:latin typeface="Monda"/>
                <a:ea typeface="Monda"/>
                <a:cs typeface="Monda"/>
                <a:sym typeface="Monda"/>
              </a:rPr>
              <a:t>Patient Registration</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pPr>
            <a:r>
              <a:rPr lang="en-US" sz="1614">
                <a:solidFill>
                  <a:srgbClr val="050E9B"/>
                </a:solidFill>
                <a:latin typeface="Monda"/>
                <a:ea typeface="Monda"/>
                <a:cs typeface="Monda"/>
                <a:sym typeface="Monda"/>
              </a:rPr>
              <a:t>Patient Priority Assignment</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pPr>
            <a:r>
              <a:rPr lang="en-US" sz="1614">
                <a:solidFill>
                  <a:srgbClr val="050E9B"/>
                </a:solidFill>
                <a:latin typeface="Monda"/>
                <a:ea typeface="Monda"/>
                <a:cs typeface="Monda"/>
                <a:sym typeface="Monda"/>
              </a:rPr>
              <a:t>Check Department</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pPr>
            <a:r>
              <a:rPr lang="en-US" sz="1614">
                <a:solidFill>
                  <a:srgbClr val="050E9B"/>
                </a:solidFill>
                <a:latin typeface="Monda"/>
                <a:ea typeface="Monda"/>
                <a:cs typeface="Monda"/>
                <a:sym typeface="Monda"/>
              </a:rPr>
              <a:t>Check Bed Availability</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pPr>
            <a:r>
              <a:rPr lang="en-US" sz="1614">
                <a:solidFill>
                  <a:srgbClr val="050E9B"/>
                </a:solidFill>
                <a:latin typeface="Monda"/>
                <a:ea typeface="Monda"/>
                <a:cs typeface="Monda"/>
                <a:sym typeface="Monda"/>
              </a:rPr>
              <a:t>Allocation Engine</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pPr>
            <a:r>
              <a:rPr lang="en-US" sz="1614">
                <a:solidFill>
                  <a:srgbClr val="050E9B"/>
                </a:solidFill>
                <a:latin typeface="Monda"/>
                <a:ea typeface="Monda"/>
                <a:cs typeface="Monda"/>
                <a:sym typeface="Monda"/>
              </a:rPr>
              <a:t>Assign Bed</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pPr>
            <a:r>
              <a:rPr lang="en-US" sz="1614">
                <a:solidFill>
                  <a:srgbClr val="050E9B"/>
                </a:solidFill>
                <a:latin typeface="Monda"/>
                <a:ea typeface="Monda"/>
                <a:cs typeface="Monda"/>
                <a:sym typeface="Monda"/>
              </a:rPr>
              <a:t>Database Update</a:t>
            </a:r>
          </a:p>
          <a:p>
            <a:pPr algn="ctr">
              <a:lnSpc>
                <a:spcPts val="2260"/>
              </a:lnSpc>
            </a:pPr>
          </a:p>
          <a:p>
            <a:pPr algn="ctr">
              <a:lnSpc>
                <a:spcPts val="2260"/>
              </a:lnSpc>
            </a:pPr>
            <a:r>
              <a:rPr lang="en-US" sz="1614">
                <a:solidFill>
                  <a:srgbClr val="050E9B"/>
                </a:solidFill>
                <a:latin typeface="Monda"/>
                <a:ea typeface="Monda"/>
                <a:cs typeface="Monda"/>
                <a:sym typeface="Monda"/>
              </a:rPr>
              <a:t>↓</a:t>
            </a:r>
          </a:p>
          <a:p>
            <a:pPr algn="ctr">
              <a:lnSpc>
                <a:spcPts val="2260"/>
              </a:lnSpc>
            </a:pPr>
          </a:p>
          <a:p>
            <a:pPr algn="ctr">
              <a:lnSpc>
                <a:spcPts val="2260"/>
              </a:lnSpc>
              <a:spcBef>
                <a:spcPct val="0"/>
              </a:spcBef>
            </a:pPr>
            <a:r>
              <a:rPr lang="en-US" sz="1614">
                <a:solidFill>
                  <a:srgbClr val="050E9B"/>
                </a:solidFill>
                <a:latin typeface="Monda"/>
                <a:ea typeface="Monda"/>
                <a:cs typeface="Monda"/>
                <a:sym typeface="Monda"/>
              </a:rPr>
              <a:t>Notification &amp; Status Display</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419289" y="439795"/>
            <a:ext cx="10879298" cy="1657917"/>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DISCRETE MATHEMATICS CONCEPTS</a:t>
            </a:r>
          </a:p>
        </p:txBody>
      </p:sp>
      <p:sp>
        <p:nvSpPr>
          <p:cNvPr name="TextBox 8" id="8"/>
          <p:cNvSpPr txBox="true"/>
          <p:nvPr/>
        </p:nvSpPr>
        <p:spPr>
          <a:xfrm rot="0">
            <a:off x="2719553" y="2040562"/>
            <a:ext cx="12848894" cy="8406365"/>
          </a:xfrm>
          <a:prstGeom prst="rect">
            <a:avLst/>
          </a:prstGeom>
        </p:spPr>
        <p:txBody>
          <a:bodyPr anchor="t" rtlCol="false" tIns="0" lIns="0" bIns="0" rIns="0">
            <a:spAutoFit/>
          </a:bodyPr>
          <a:lstStyle/>
          <a:p>
            <a:pPr algn="just">
              <a:lnSpc>
                <a:spcPts val="4432"/>
              </a:lnSpc>
            </a:pPr>
            <a:r>
              <a:rPr lang="en-US" sz="3165">
                <a:solidFill>
                  <a:srgbClr val="050E9B"/>
                </a:solidFill>
                <a:latin typeface="Monda"/>
                <a:ea typeface="Monda"/>
                <a:cs typeface="Monda"/>
                <a:sym typeface="Monda"/>
              </a:rPr>
              <a:t>Graph Theory</a:t>
            </a:r>
          </a:p>
          <a:p>
            <a:pPr algn="just">
              <a:lnSpc>
                <a:spcPts val="4432"/>
              </a:lnSpc>
            </a:pPr>
            <a:r>
              <a:rPr lang="en-US" sz="3165">
                <a:solidFill>
                  <a:srgbClr val="050E9B"/>
                </a:solidFill>
                <a:latin typeface="Monda"/>
                <a:ea typeface="Monda"/>
                <a:cs typeface="Monda"/>
                <a:sym typeface="Monda"/>
              </a:rPr>
              <a:t>Represents</a:t>
            </a:r>
          </a:p>
          <a:p>
            <a:pPr algn="just" marL="683487" indent="-341744" lvl="1">
              <a:lnSpc>
                <a:spcPts val="4432"/>
              </a:lnSpc>
              <a:buFont typeface="Arial"/>
              <a:buChar char="•"/>
            </a:pPr>
            <a:r>
              <a:rPr lang="en-US" sz="3165">
                <a:solidFill>
                  <a:srgbClr val="050E9B"/>
                </a:solidFill>
                <a:latin typeface="Monda"/>
                <a:ea typeface="Monda"/>
                <a:cs typeface="Monda"/>
                <a:sym typeface="Monda"/>
              </a:rPr>
              <a:t>Patients</a:t>
            </a:r>
          </a:p>
          <a:p>
            <a:pPr algn="just" marL="683487" indent="-341744" lvl="1">
              <a:lnSpc>
                <a:spcPts val="4432"/>
              </a:lnSpc>
              <a:buFont typeface="Arial"/>
              <a:buChar char="•"/>
            </a:pPr>
            <a:r>
              <a:rPr lang="en-US" sz="3165">
                <a:solidFill>
                  <a:srgbClr val="050E9B"/>
                </a:solidFill>
                <a:latin typeface="Monda"/>
                <a:ea typeface="Monda"/>
                <a:cs typeface="Monda"/>
                <a:sym typeface="Monda"/>
              </a:rPr>
              <a:t>B</a:t>
            </a:r>
            <a:r>
              <a:rPr lang="en-US" sz="3165">
                <a:solidFill>
                  <a:srgbClr val="050E9B"/>
                </a:solidFill>
                <a:latin typeface="Monda"/>
                <a:ea typeface="Monda"/>
                <a:cs typeface="Monda"/>
                <a:sym typeface="Monda"/>
              </a:rPr>
              <a:t>eds</a:t>
            </a:r>
          </a:p>
          <a:p>
            <a:pPr algn="just" marL="683487" indent="-341744" lvl="1">
              <a:lnSpc>
                <a:spcPts val="4432"/>
              </a:lnSpc>
              <a:buFont typeface="Arial"/>
              <a:buChar char="•"/>
            </a:pPr>
            <a:r>
              <a:rPr lang="en-US" sz="3165">
                <a:solidFill>
                  <a:srgbClr val="050E9B"/>
                </a:solidFill>
                <a:latin typeface="Monda"/>
                <a:ea typeface="Monda"/>
                <a:cs typeface="Monda"/>
                <a:sym typeface="Monda"/>
              </a:rPr>
              <a:t>Departments</a:t>
            </a:r>
          </a:p>
          <a:p>
            <a:pPr algn="just">
              <a:lnSpc>
                <a:spcPts val="4432"/>
              </a:lnSpc>
            </a:pPr>
            <a:r>
              <a:rPr lang="en-US" sz="3165">
                <a:solidFill>
                  <a:srgbClr val="050E9B"/>
                </a:solidFill>
                <a:latin typeface="Monda"/>
                <a:ea typeface="Monda"/>
                <a:cs typeface="Monda"/>
                <a:sym typeface="Monda"/>
              </a:rPr>
              <a:t>as graph nodes.</a:t>
            </a:r>
          </a:p>
          <a:p>
            <a:pPr algn="just">
              <a:lnSpc>
                <a:spcPts val="4432"/>
              </a:lnSpc>
            </a:pPr>
            <a:r>
              <a:rPr lang="en-US" sz="3165">
                <a:solidFill>
                  <a:srgbClr val="050E9B"/>
                </a:solidFill>
                <a:latin typeface="Monda"/>
                <a:ea typeface="Monda"/>
                <a:cs typeface="Monda"/>
                <a:sym typeface="Monda"/>
              </a:rPr>
              <a:t>Edg</a:t>
            </a:r>
            <a:r>
              <a:rPr lang="en-US" sz="3165">
                <a:solidFill>
                  <a:srgbClr val="050E9B"/>
                </a:solidFill>
                <a:latin typeface="Monda"/>
                <a:ea typeface="Monda"/>
                <a:cs typeface="Monda"/>
                <a:sym typeface="Monda"/>
              </a:rPr>
              <a:t>es represent possible a</a:t>
            </a:r>
            <a:r>
              <a:rPr lang="en-US" sz="3165">
                <a:solidFill>
                  <a:srgbClr val="050E9B"/>
                </a:solidFill>
                <a:latin typeface="Monda"/>
                <a:ea typeface="Monda"/>
                <a:cs typeface="Monda"/>
                <a:sym typeface="Monda"/>
              </a:rPr>
              <a:t>llo</a:t>
            </a:r>
            <a:r>
              <a:rPr lang="en-US" sz="3165">
                <a:solidFill>
                  <a:srgbClr val="050E9B"/>
                </a:solidFill>
                <a:latin typeface="Monda"/>
                <a:ea typeface="Monda"/>
                <a:cs typeface="Monda"/>
                <a:sym typeface="Monda"/>
              </a:rPr>
              <a:t>cations.</a:t>
            </a:r>
          </a:p>
          <a:p>
            <a:pPr algn="just">
              <a:lnSpc>
                <a:spcPts val="4432"/>
              </a:lnSpc>
            </a:pPr>
            <a:r>
              <a:rPr lang="en-US" sz="3165">
                <a:solidFill>
                  <a:srgbClr val="050E9B"/>
                </a:solidFill>
                <a:latin typeface="Monda"/>
                <a:ea typeface="Monda"/>
                <a:cs typeface="Monda"/>
                <a:sym typeface="Monda"/>
              </a:rPr>
              <a:t>Priority Queue</a:t>
            </a:r>
          </a:p>
          <a:p>
            <a:pPr algn="just">
              <a:lnSpc>
                <a:spcPts val="4432"/>
              </a:lnSpc>
            </a:pPr>
            <a:r>
              <a:rPr lang="en-US" sz="3165">
                <a:solidFill>
                  <a:srgbClr val="050E9B"/>
                </a:solidFill>
                <a:latin typeface="Monda"/>
                <a:ea typeface="Monda"/>
                <a:cs typeface="Monda"/>
                <a:sym typeface="Monda"/>
              </a:rPr>
              <a:t>Used to allocate emergency patients before normal patients.</a:t>
            </a:r>
          </a:p>
          <a:p>
            <a:pPr algn="just">
              <a:lnSpc>
                <a:spcPts val="4432"/>
              </a:lnSpc>
            </a:pPr>
            <a:r>
              <a:rPr lang="en-US" sz="3165">
                <a:solidFill>
                  <a:srgbClr val="050E9B"/>
                </a:solidFill>
                <a:latin typeface="Monda"/>
                <a:ea typeface="Monda"/>
                <a:cs typeface="Monda"/>
                <a:sym typeface="Monda"/>
              </a:rPr>
              <a:t>Set</a:t>
            </a:r>
            <a:r>
              <a:rPr lang="en-US" sz="3165">
                <a:solidFill>
                  <a:srgbClr val="050E9B"/>
                </a:solidFill>
                <a:latin typeface="Monda"/>
                <a:ea typeface="Monda"/>
                <a:cs typeface="Monda"/>
                <a:sym typeface="Monda"/>
              </a:rPr>
              <a:t> Theory</a:t>
            </a:r>
          </a:p>
          <a:p>
            <a:pPr algn="just">
              <a:lnSpc>
                <a:spcPts val="4432"/>
              </a:lnSpc>
            </a:pPr>
            <a:r>
              <a:rPr lang="en-US" sz="3165">
                <a:solidFill>
                  <a:srgbClr val="050E9B"/>
                </a:solidFill>
                <a:latin typeface="Monda"/>
                <a:ea typeface="Monda"/>
                <a:cs typeface="Monda"/>
                <a:sym typeface="Monda"/>
              </a:rPr>
              <a:t>Ma</a:t>
            </a:r>
            <a:r>
              <a:rPr lang="en-US" sz="3165">
                <a:solidFill>
                  <a:srgbClr val="050E9B"/>
                </a:solidFill>
                <a:latin typeface="Monda"/>
                <a:ea typeface="Monda"/>
                <a:cs typeface="Monda"/>
                <a:sym typeface="Monda"/>
              </a:rPr>
              <a:t>intains</a:t>
            </a:r>
          </a:p>
          <a:p>
            <a:pPr algn="just" marL="683487" indent="-341744" lvl="1">
              <a:lnSpc>
                <a:spcPts val="4432"/>
              </a:lnSpc>
              <a:buFont typeface="Arial"/>
              <a:buChar char="•"/>
            </a:pPr>
            <a:r>
              <a:rPr lang="en-US" sz="3165">
                <a:solidFill>
                  <a:srgbClr val="050E9B"/>
                </a:solidFill>
                <a:latin typeface="Monda"/>
                <a:ea typeface="Monda"/>
                <a:cs typeface="Monda"/>
                <a:sym typeface="Monda"/>
              </a:rPr>
              <a:t>Occup</a:t>
            </a:r>
            <a:r>
              <a:rPr lang="en-US" sz="3165">
                <a:solidFill>
                  <a:srgbClr val="050E9B"/>
                </a:solidFill>
                <a:latin typeface="Monda"/>
                <a:ea typeface="Monda"/>
                <a:cs typeface="Monda"/>
                <a:sym typeface="Monda"/>
              </a:rPr>
              <a:t>ied Beds</a:t>
            </a:r>
          </a:p>
          <a:p>
            <a:pPr algn="just" marL="683487" indent="-341744" lvl="1">
              <a:lnSpc>
                <a:spcPts val="4432"/>
              </a:lnSpc>
              <a:buFont typeface="Arial"/>
              <a:buChar char="•"/>
            </a:pPr>
            <a:r>
              <a:rPr lang="en-US" sz="3165">
                <a:solidFill>
                  <a:srgbClr val="050E9B"/>
                </a:solidFill>
                <a:latin typeface="Monda"/>
                <a:ea typeface="Monda"/>
                <a:cs typeface="Monda"/>
                <a:sym typeface="Monda"/>
              </a:rPr>
              <a:t>Available Beds</a:t>
            </a:r>
          </a:p>
          <a:p>
            <a:pPr algn="just" marL="683487" indent="-341744" lvl="1">
              <a:lnSpc>
                <a:spcPts val="4432"/>
              </a:lnSpc>
              <a:buFont typeface="Arial"/>
              <a:buChar char="•"/>
            </a:pPr>
            <a:r>
              <a:rPr lang="en-US" sz="3165">
                <a:solidFill>
                  <a:srgbClr val="050E9B"/>
                </a:solidFill>
                <a:latin typeface="Monda"/>
                <a:ea typeface="Monda"/>
                <a:cs typeface="Monda"/>
                <a:sym typeface="Monda"/>
              </a:rPr>
              <a:t>De</a:t>
            </a:r>
            <a:r>
              <a:rPr lang="en-US" sz="3165">
                <a:solidFill>
                  <a:srgbClr val="050E9B"/>
                </a:solidFill>
                <a:latin typeface="Monda"/>
                <a:ea typeface="Monda"/>
                <a:cs typeface="Monda"/>
                <a:sym typeface="Monda"/>
              </a:rPr>
              <a:t>partment Resources</a:t>
            </a:r>
          </a:p>
          <a:p>
            <a:pPr algn="just">
              <a:lnSpc>
                <a:spcPts val="4432"/>
              </a:lnSpc>
              <a:spcBef>
                <a:spcPct val="0"/>
              </a:spcBef>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07780" y="1231068"/>
            <a:ext cx="10879298" cy="811153"/>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DATABASE</a:t>
            </a:r>
          </a:p>
        </p:txBody>
      </p:sp>
      <p:sp>
        <p:nvSpPr>
          <p:cNvPr name="TextBox 8" id="8"/>
          <p:cNvSpPr txBox="true"/>
          <p:nvPr/>
        </p:nvSpPr>
        <p:spPr>
          <a:xfrm rot="0">
            <a:off x="2697430" y="2325084"/>
            <a:ext cx="10145576" cy="7961916"/>
          </a:xfrm>
          <a:prstGeom prst="rect">
            <a:avLst/>
          </a:prstGeom>
        </p:spPr>
        <p:txBody>
          <a:bodyPr anchor="t" rtlCol="false" tIns="0" lIns="0" bIns="0" rIns="0">
            <a:spAutoFit/>
          </a:bodyPr>
          <a:lstStyle/>
          <a:p>
            <a:pPr algn="just">
              <a:lnSpc>
                <a:spcPts val="3499"/>
              </a:lnSpc>
            </a:pPr>
            <a:r>
              <a:rPr lang="en-US" sz="2499">
                <a:solidFill>
                  <a:srgbClr val="050E9B"/>
                </a:solidFill>
                <a:latin typeface="Monda"/>
                <a:ea typeface="Monda"/>
                <a:cs typeface="Monda"/>
                <a:sym typeface="Monda"/>
              </a:rPr>
              <a:t>Patient Table</a:t>
            </a:r>
          </a:p>
          <a:p>
            <a:pPr algn="just" marL="539686" indent="-269843" lvl="1">
              <a:lnSpc>
                <a:spcPts val="3499"/>
              </a:lnSpc>
              <a:buFont typeface="Arial"/>
              <a:buChar char="•"/>
            </a:pPr>
            <a:r>
              <a:rPr lang="en-US" sz="2499">
                <a:solidFill>
                  <a:srgbClr val="050E9B"/>
                </a:solidFill>
                <a:latin typeface="Monda"/>
                <a:ea typeface="Monda"/>
                <a:cs typeface="Monda"/>
                <a:sym typeface="Monda"/>
              </a:rPr>
              <a:t>P</a:t>
            </a:r>
            <a:r>
              <a:rPr lang="en-US" sz="2499">
                <a:solidFill>
                  <a:srgbClr val="050E9B"/>
                </a:solidFill>
                <a:latin typeface="Monda"/>
                <a:ea typeface="Monda"/>
                <a:cs typeface="Monda"/>
                <a:sym typeface="Monda"/>
              </a:rPr>
              <a:t>atient ID</a:t>
            </a:r>
          </a:p>
          <a:p>
            <a:pPr algn="just" marL="539686" indent="-269843" lvl="1">
              <a:lnSpc>
                <a:spcPts val="3499"/>
              </a:lnSpc>
              <a:buFont typeface="Arial"/>
              <a:buChar char="•"/>
            </a:pPr>
            <a:r>
              <a:rPr lang="en-US" sz="2499">
                <a:solidFill>
                  <a:srgbClr val="050E9B"/>
                </a:solidFill>
                <a:latin typeface="Monda"/>
                <a:ea typeface="Monda"/>
                <a:cs typeface="Monda"/>
                <a:sym typeface="Monda"/>
              </a:rPr>
              <a:t>Name</a:t>
            </a:r>
          </a:p>
          <a:p>
            <a:pPr algn="just" marL="539686" indent="-269843" lvl="1">
              <a:lnSpc>
                <a:spcPts val="3499"/>
              </a:lnSpc>
              <a:buFont typeface="Arial"/>
              <a:buChar char="•"/>
            </a:pPr>
            <a:r>
              <a:rPr lang="en-US" sz="2499">
                <a:solidFill>
                  <a:srgbClr val="050E9B"/>
                </a:solidFill>
                <a:latin typeface="Monda"/>
                <a:ea typeface="Monda"/>
                <a:cs typeface="Monda"/>
                <a:sym typeface="Monda"/>
              </a:rPr>
              <a:t>A</a:t>
            </a:r>
            <a:r>
              <a:rPr lang="en-US" sz="2499">
                <a:solidFill>
                  <a:srgbClr val="050E9B"/>
                </a:solidFill>
                <a:latin typeface="Monda"/>
                <a:ea typeface="Monda"/>
                <a:cs typeface="Monda"/>
                <a:sym typeface="Monda"/>
              </a:rPr>
              <a:t>g</a:t>
            </a:r>
            <a:r>
              <a:rPr lang="en-US" sz="2499">
                <a:solidFill>
                  <a:srgbClr val="050E9B"/>
                </a:solidFill>
                <a:latin typeface="Monda"/>
                <a:ea typeface="Monda"/>
                <a:cs typeface="Monda"/>
                <a:sym typeface="Monda"/>
              </a:rPr>
              <a:t>e</a:t>
            </a:r>
          </a:p>
          <a:p>
            <a:pPr algn="just" marL="539686" indent="-269843" lvl="1">
              <a:lnSpc>
                <a:spcPts val="3499"/>
              </a:lnSpc>
              <a:buFont typeface="Arial"/>
              <a:buChar char="•"/>
            </a:pPr>
            <a:r>
              <a:rPr lang="en-US" sz="2499">
                <a:solidFill>
                  <a:srgbClr val="050E9B"/>
                </a:solidFill>
                <a:latin typeface="Monda"/>
                <a:ea typeface="Monda"/>
                <a:cs typeface="Monda"/>
                <a:sym typeface="Monda"/>
              </a:rPr>
              <a:t>Disease</a:t>
            </a:r>
          </a:p>
          <a:p>
            <a:pPr algn="just" marL="539686" indent="-269843" lvl="1">
              <a:lnSpc>
                <a:spcPts val="3499"/>
              </a:lnSpc>
              <a:buFont typeface="Arial"/>
              <a:buChar char="•"/>
            </a:pPr>
            <a:r>
              <a:rPr lang="en-US" sz="2499">
                <a:solidFill>
                  <a:srgbClr val="050E9B"/>
                </a:solidFill>
                <a:latin typeface="Monda"/>
                <a:ea typeface="Monda"/>
                <a:cs typeface="Monda"/>
                <a:sym typeface="Monda"/>
              </a:rPr>
              <a:t>Priority</a:t>
            </a:r>
          </a:p>
          <a:p>
            <a:pPr algn="just" marL="539686" indent="-269843" lvl="1">
              <a:lnSpc>
                <a:spcPts val="3499"/>
              </a:lnSpc>
              <a:buFont typeface="Arial"/>
              <a:buChar char="•"/>
            </a:pPr>
            <a:r>
              <a:rPr lang="en-US" sz="2499">
                <a:solidFill>
                  <a:srgbClr val="050E9B"/>
                </a:solidFill>
                <a:latin typeface="Monda"/>
                <a:ea typeface="Monda"/>
                <a:cs typeface="Monda"/>
                <a:sym typeface="Monda"/>
              </a:rPr>
              <a:t>A</a:t>
            </a:r>
            <a:r>
              <a:rPr lang="en-US" sz="2499">
                <a:solidFill>
                  <a:srgbClr val="050E9B"/>
                </a:solidFill>
                <a:latin typeface="Monda"/>
                <a:ea typeface="Monda"/>
                <a:cs typeface="Monda"/>
                <a:sym typeface="Monda"/>
              </a:rPr>
              <a:t>dmission Time</a:t>
            </a:r>
          </a:p>
          <a:p>
            <a:pPr algn="just">
              <a:lnSpc>
                <a:spcPts val="3499"/>
              </a:lnSpc>
            </a:pPr>
            <a:r>
              <a:rPr lang="en-US" sz="2499">
                <a:solidFill>
                  <a:srgbClr val="050E9B"/>
                </a:solidFill>
                <a:latin typeface="Monda"/>
                <a:ea typeface="Monda"/>
                <a:cs typeface="Monda"/>
                <a:sym typeface="Monda"/>
              </a:rPr>
              <a:t>Bed Table</a:t>
            </a:r>
          </a:p>
          <a:p>
            <a:pPr algn="just" marL="539686" indent="-269843" lvl="1">
              <a:lnSpc>
                <a:spcPts val="3499"/>
              </a:lnSpc>
              <a:buFont typeface="Arial"/>
              <a:buChar char="•"/>
            </a:pPr>
            <a:r>
              <a:rPr lang="en-US" sz="2499">
                <a:solidFill>
                  <a:srgbClr val="050E9B"/>
                </a:solidFill>
                <a:latin typeface="Monda"/>
                <a:ea typeface="Monda"/>
                <a:cs typeface="Monda"/>
                <a:sym typeface="Monda"/>
              </a:rPr>
              <a:t>Bed ID</a:t>
            </a:r>
          </a:p>
          <a:p>
            <a:pPr algn="just" marL="539686" indent="-269843" lvl="1">
              <a:lnSpc>
                <a:spcPts val="3499"/>
              </a:lnSpc>
              <a:buFont typeface="Arial"/>
              <a:buChar char="•"/>
            </a:pPr>
            <a:r>
              <a:rPr lang="en-US" sz="2499">
                <a:solidFill>
                  <a:srgbClr val="050E9B"/>
                </a:solidFill>
                <a:latin typeface="Monda"/>
                <a:ea typeface="Monda"/>
                <a:cs typeface="Monda"/>
                <a:sym typeface="Monda"/>
              </a:rPr>
              <a:t>Department</a:t>
            </a:r>
          </a:p>
          <a:p>
            <a:pPr algn="just" marL="539686" indent="-269843" lvl="1">
              <a:lnSpc>
                <a:spcPts val="3499"/>
              </a:lnSpc>
              <a:buFont typeface="Arial"/>
              <a:buChar char="•"/>
            </a:pPr>
            <a:r>
              <a:rPr lang="en-US" sz="2499">
                <a:solidFill>
                  <a:srgbClr val="050E9B"/>
                </a:solidFill>
                <a:latin typeface="Monda"/>
                <a:ea typeface="Monda"/>
                <a:cs typeface="Monda"/>
                <a:sym typeface="Monda"/>
              </a:rPr>
              <a:t>St</a:t>
            </a:r>
            <a:r>
              <a:rPr lang="en-US" sz="2499">
                <a:solidFill>
                  <a:srgbClr val="050E9B"/>
                </a:solidFill>
                <a:latin typeface="Monda"/>
                <a:ea typeface="Monda"/>
                <a:cs typeface="Monda"/>
                <a:sym typeface="Monda"/>
              </a:rPr>
              <a:t>a</a:t>
            </a:r>
            <a:r>
              <a:rPr lang="en-US" sz="2499">
                <a:solidFill>
                  <a:srgbClr val="050E9B"/>
                </a:solidFill>
                <a:latin typeface="Monda"/>
                <a:ea typeface="Monda"/>
                <a:cs typeface="Monda"/>
                <a:sym typeface="Monda"/>
              </a:rPr>
              <a:t>tus</a:t>
            </a:r>
          </a:p>
          <a:p>
            <a:pPr algn="just" marL="539686" indent="-269843" lvl="1">
              <a:lnSpc>
                <a:spcPts val="3499"/>
              </a:lnSpc>
              <a:buFont typeface="Arial"/>
              <a:buChar char="•"/>
            </a:pPr>
            <a:r>
              <a:rPr lang="en-US" sz="2499">
                <a:solidFill>
                  <a:srgbClr val="050E9B"/>
                </a:solidFill>
                <a:latin typeface="Monda"/>
                <a:ea typeface="Monda"/>
                <a:cs typeface="Monda"/>
                <a:sym typeface="Monda"/>
              </a:rPr>
              <a:t>Occupancy</a:t>
            </a:r>
          </a:p>
          <a:p>
            <a:pPr algn="just">
              <a:lnSpc>
                <a:spcPts val="3499"/>
              </a:lnSpc>
            </a:pPr>
            <a:r>
              <a:rPr lang="en-US" sz="2499">
                <a:solidFill>
                  <a:srgbClr val="050E9B"/>
                </a:solidFill>
                <a:latin typeface="Monda"/>
                <a:ea typeface="Monda"/>
                <a:cs typeface="Monda"/>
                <a:sym typeface="Monda"/>
              </a:rPr>
              <a:t>Allocation Table</a:t>
            </a:r>
          </a:p>
          <a:p>
            <a:pPr algn="just" marL="539686" indent="-269843" lvl="1">
              <a:lnSpc>
                <a:spcPts val="3499"/>
              </a:lnSpc>
              <a:buFont typeface="Arial"/>
              <a:buChar char="•"/>
            </a:pPr>
            <a:r>
              <a:rPr lang="en-US" sz="2499">
                <a:solidFill>
                  <a:srgbClr val="050E9B"/>
                </a:solidFill>
                <a:latin typeface="Monda"/>
                <a:ea typeface="Monda"/>
                <a:cs typeface="Monda"/>
                <a:sym typeface="Monda"/>
              </a:rPr>
              <a:t>Allocation ID</a:t>
            </a:r>
          </a:p>
          <a:p>
            <a:pPr algn="just" marL="539686" indent="-269843" lvl="1">
              <a:lnSpc>
                <a:spcPts val="3499"/>
              </a:lnSpc>
              <a:buFont typeface="Arial"/>
              <a:buChar char="•"/>
            </a:pPr>
            <a:r>
              <a:rPr lang="en-US" sz="2499">
                <a:solidFill>
                  <a:srgbClr val="050E9B"/>
                </a:solidFill>
                <a:latin typeface="Monda"/>
                <a:ea typeface="Monda"/>
                <a:cs typeface="Monda"/>
                <a:sym typeface="Monda"/>
              </a:rPr>
              <a:t>P</a:t>
            </a:r>
            <a:r>
              <a:rPr lang="en-US" sz="2499">
                <a:solidFill>
                  <a:srgbClr val="050E9B"/>
                </a:solidFill>
                <a:latin typeface="Monda"/>
                <a:ea typeface="Monda"/>
                <a:cs typeface="Monda"/>
                <a:sym typeface="Monda"/>
              </a:rPr>
              <a:t>atient ID</a:t>
            </a:r>
          </a:p>
          <a:p>
            <a:pPr algn="just" marL="539686" indent="-269843" lvl="1">
              <a:lnSpc>
                <a:spcPts val="3499"/>
              </a:lnSpc>
              <a:buFont typeface="Arial"/>
              <a:buChar char="•"/>
            </a:pPr>
            <a:r>
              <a:rPr lang="en-US" sz="2499">
                <a:solidFill>
                  <a:srgbClr val="050E9B"/>
                </a:solidFill>
                <a:latin typeface="Monda"/>
                <a:ea typeface="Monda"/>
                <a:cs typeface="Monda"/>
                <a:sym typeface="Monda"/>
              </a:rPr>
              <a:t>Bed ID</a:t>
            </a:r>
          </a:p>
          <a:p>
            <a:pPr algn="just" marL="539686" indent="-269843" lvl="1">
              <a:lnSpc>
                <a:spcPts val="3499"/>
              </a:lnSpc>
              <a:buFont typeface="Arial"/>
              <a:buChar char="•"/>
            </a:pPr>
            <a:r>
              <a:rPr lang="en-US" sz="2499">
                <a:solidFill>
                  <a:srgbClr val="050E9B"/>
                </a:solidFill>
                <a:latin typeface="Monda"/>
                <a:ea typeface="Monda"/>
                <a:cs typeface="Monda"/>
                <a:sym typeface="Monda"/>
              </a:rPr>
              <a:t>Allocation Time</a:t>
            </a:r>
          </a:p>
          <a:p>
            <a:pPr algn="just">
              <a:lnSpc>
                <a:spcPts val="3499"/>
              </a:lnSpc>
              <a:spcBef>
                <a:spcPct val="0"/>
              </a:spcBef>
            </a:pP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07780" y="1231068"/>
            <a:ext cx="10879298" cy="811153"/>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ADVANTAGES AND DISADVANTAGES</a:t>
            </a:r>
          </a:p>
        </p:txBody>
      </p:sp>
      <p:sp>
        <p:nvSpPr>
          <p:cNvPr name="TextBox 8" id="8"/>
          <p:cNvSpPr txBox="true"/>
          <p:nvPr/>
        </p:nvSpPr>
        <p:spPr>
          <a:xfrm rot="0">
            <a:off x="2697430" y="2306034"/>
            <a:ext cx="12205143" cy="9055693"/>
          </a:xfrm>
          <a:prstGeom prst="rect">
            <a:avLst/>
          </a:prstGeom>
        </p:spPr>
        <p:txBody>
          <a:bodyPr anchor="t" rtlCol="false" tIns="0" lIns="0" bIns="0" rIns="0">
            <a:spAutoFit/>
          </a:bodyPr>
          <a:lstStyle/>
          <a:p>
            <a:pPr algn="just">
              <a:lnSpc>
                <a:spcPts val="4210"/>
              </a:lnSpc>
            </a:pPr>
            <a:r>
              <a:rPr lang="en-US" sz="3007">
                <a:solidFill>
                  <a:srgbClr val="050E9B"/>
                </a:solidFill>
                <a:latin typeface="Monda"/>
                <a:ea typeface="Monda"/>
                <a:cs typeface="Monda"/>
                <a:sym typeface="Monda"/>
              </a:rPr>
              <a:t>Advantages</a:t>
            </a:r>
          </a:p>
          <a:p>
            <a:pPr algn="just" marL="649243" indent="-324622" lvl="1">
              <a:lnSpc>
                <a:spcPts val="4210"/>
              </a:lnSpc>
              <a:buFont typeface="Arial"/>
              <a:buChar char="•"/>
            </a:pPr>
            <a:r>
              <a:rPr lang="en-US" sz="3007">
                <a:solidFill>
                  <a:srgbClr val="050E9B"/>
                </a:solidFill>
                <a:latin typeface="Monda"/>
                <a:ea typeface="Monda"/>
                <a:cs typeface="Monda"/>
                <a:sym typeface="Monda"/>
              </a:rPr>
              <a:t>Faster bed allocation</a:t>
            </a:r>
          </a:p>
          <a:p>
            <a:pPr algn="just" marL="649243" indent="-324622" lvl="1">
              <a:lnSpc>
                <a:spcPts val="4210"/>
              </a:lnSpc>
              <a:buFont typeface="Arial"/>
              <a:buChar char="•"/>
            </a:pPr>
            <a:r>
              <a:rPr lang="en-US" sz="3007">
                <a:solidFill>
                  <a:srgbClr val="050E9B"/>
                </a:solidFill>
                <a:latin typeface="Monda"/>
                <a:ea typeface="Monda"/>
                <a:cs typeface="Monda"/>
                <a:sym typeface="Monda"/>
              </a:rPr>
              <a:t>Reduces p</a:t>
            </a:r>
            <a:r>
              <a:rPr lang="en-US" sz="3007">
                <a:solidFill>
                  <a:srgbClr val="050E9B"/>
                </a:solidFill>
                <a:latin typeface="Monda"/>
                <a:ea typeface="Monda"/>
                <a:cs typeface="Monda"/>
                <a:sym typeface="Monda"/>
              </a:rPr>
              <a:t>atient waiting time</a:t>
            </a:r>
          </a:p>
          <a:p>
            <a:pPr algn="just" marL="649243" indent="-324622" lvl="1">
              <a:lnSpc>
                <a:spcPts val="4210"/>
              </a:lnSpc>
              <a:buFont typeface="Arial"/>
              <a:buChar char="•"/>
            </a:pPr>
            <a:r>
              <a:rPr lang="en-US" sz="3007">
                <a:solidFill>
                  <a:srgbClr val="050E9B"/>
                </a:solidFill>
                <a:latin typeface="Monda"/>
                <a:ea typeface="Monda"/>
                <a:cs typeface="Monda"/>
                <a:sym typeface="Monda"/>
              </a:rPr>
              <a:t>Improv</a:t>
            </a:r>
            <a:r>
              <a:rPr lang="en-US" sz="3007">
                <a:solidFill>
                  <a:srgbClr val="050E9B"/>
                </a:solidFill>
                <a:latin typeface="Monda"/>
                <a:ea typeface="Monda"/>
                <a:cs typeface="Monda"/>
                <a:sym typeface="Monda"/>
              </a:rPr>
              <a:t>es hospital resource utilization</a:t>
            </a:r>
          </a:p>
          <a:p>
            <a:pPr algn="just" marL="649243" indent="-324622" lvl="1">
              <a:lnSpc>
                <a:spcPts val="4210"/>
              </a:lnSpc>
              <a:buFont typeface="Arial"/>
              <a:buChar char="•"/>
            </a:pPr>
            <a:r>
              <a:rPr lang="en-US" sz="3007">
                <a:solidFill>
                  <a:srgbClr val="050E9B"/>
                </a:solidFill>
                <a:latin typeface="Monda"/>
                <a:ea typeface="Monda"/>
                <a:cs typeface="Monda"/>
                <a:sym typeface="Monda"/>
              </a:rPr>
              <a:t>Prioritizes emergency patients</a:t>
            </a:r>
          </a:p>
          <a:p>
            <a:pPr algn="just" marL="649243" indent="-324622" lvl="1">
              <a:lnSpc>
                <a:spcPts val="4210"/>
              </a:lnSpc>
              <a:buFont typeface="Arial"/>
              <a:buChar char="•"/>
            </a:pPr>
            <a:r>
              <a:rPr lang="en-US" sz="3007">
                <a:solidFill>
                  <a:srgbClr val="050E9B"/>
                </a:solidFill>
                <a:latin typeface="Monda"/>
                <a:ea typeface="Monda"/>
                <a:cs typeface="Monda"/>
                <a:sym typeface="Monda"/>
              </a:rPr>
              <a:t>Minimizes manual errors</a:t>
            </a:r>
          </a:p>
          <a:p>
            <a:pPr algn="just">
              <a:lnSpc>
                <a:spcPts val="4210"/>
              </a:lnSpc>
            </a:pPr>
            <a:r>
              <a:rPr lang="en-US" sz="3007">
                <a:solidFill>
                  <a:srgbClr val="050E9B"/>
                </a:solidFill>
                <a:latin typeface="Monda"/>
                <a:ea typeface="Monda"/>
                <a:cs typeface="Monda"/>
                <a:sym typeface="Monda"/>
              </a:rPr>
              <a:t>Disa</a:t>
            </a:r>
            <a:r>
              <a:rPr lang="en-US" sz="3007">
                <a:solidFill>
                  <a:srgbClr val="050E9B"/>
                </a:solidFill>
                <a:latin typeface="Monda"/>
                <a:ea typeface="Monda"/>
                <a:cs typeface="Monda"/>
                <a:sym typeface="Monda"/>
              </a:rPr>
              <a:t>dvantages</a:t>
            </a:r>
          </a:p>
          <a:p>
            <a:pPr algn="just" marL="649243" indent="-324622" lvl="1">
              <a:lnSpc>
                <a:spcPts val="4210"/>
              </a:lnSpc>
              <a:buFont typeface="Arial"/>
              <a:buChar char="•"/>
            </a:pPr>
            <a:r>
              <a:rPr lang="en-US" sz="3007">
                <a:solidFill>
                  <a:srgbClr val="050E9B"/>
                </a:solidFill>
                <a:latin typeface="Monda"/>
                <a:ea typeface="Monda"/>
                <a:cs typeface="Monda"/>
                <a:sym typeface="Monda"/>
              </a:rPr>
              <a:t>High ini</a:t>
            </a:r>
            <a:r>
              <a:rPr lang="en-US" sz="3007">
                <a:solidFill>
                  <a:srgbClr val="050E9B"/>
                </a:solidFill>
                <a:latin typeface="Monda"/>
                <a:ea typeface="Monda"/>
                <a:cs typeface="Monda"/>
                <a:sym typeface="Monda"/>
              </a:rPr>
              <a:t>ti</a:t>
            </a:r>
            <a:r>
              <a:rPr lang="en-US" sz="3007">
                <a:solidFill>
                  <a:srgbClr val="050E9B"/>
                </a:solidFill>
                <a:latin typeface="Monda"/>
                <a:ea typeface="Monda"/>
                <a:cs typeface="Monda"/>
                <a:sym typeface="Monda"/>
              </a:rPr>
              <a:t>al se</a:t>
            </a:r>
            <a:r>
              <a:rPr lang="en-US" sz="3007">
                <a:solidFill>
                  <a:srgbClr val="050E9B"/>
                </a:solidFill>
                <a:latin typeface="Monda"/>
                <a:ea typeface="Monda"/>
                <a:cs typeface="Monda"/>
                <a:sym typeface="Monda"/>
              </a:rPr>
              <a:t>tup cost</a:t>
            </a:r>
          </a:p>
          <a:p>
            <a:pPr algn="just" marL="649243" indent="-324622" lvl="1">
              <a:lnSpc>
                <a:spcPts val="4210"/>
              </a:lnSpc>
              <a:buFont typeface="Arial"/>
              <a:buChar char="•"/>
            </a:pPr>
            <a:r>
              <a:rPr lang="en-US" sz="3007">
                <a:solidFill>
                  <a:srgbClr val="050E9B"/>
                </a:solidFill>
                <a:latin typeface="Monda"/>
                <a:ea typeface="Monda"/>
                <a:cs typeface="Monda"/>
                <a:sym typeface="Monda"/>
              </a:rPr>
              <a:t>Depends on accurate data entry</a:t>
            </a:r>
          </a:p>
          <a:p>
            <a:pPr algn="just" marL="649243" indent="-324622" lvl="1">
              <a:lnSpc>
                <a:spcPts val="4210"/>
              </a:lnSpc>
              <a:buFont typeface="Arial"/>
              <a:buChar char="•"/>
            </a:pPr>
            <a:r>
              <a:rPr lang="en-US" sz="3007">
                <a:solidFill>
                  <a:srgbClr val="050E9B"/>
                </a:solidFill>
                <a:latin typeface="Monda"/>
                <a:ea typeface="Monda"/>
                <a:cs typeface="Monda"/>
                <a:sym typeface="Monda"/>
              </a:rPr>
              <a:t>Requires regu</a:t>
            </a:r>
            <a:r>
              <a:rPr lang="en-US" sz="3007">
                <a:solidFill>
                  <a:srgbClr val="050E9B"/>
                </a:solidFill>
                <a:latin typeface="Monda"/>
                <a:ea typeface="Monda"/>
                <a:cs typeface="Monda"/>
                <a:sym typeface="Monda"/>
              </a:rPr>
              <a:t>lar database maintenance</a:t>
            </a:r>
          </a:p>
          <a:p>
            <a:pPr algn="just" marL="649243" indent="-324622" lvl="1">
              <a:lnSpc>
                <a:spcPts val="4210"/>
              </a:lnSpc>
              <a:buFont typeface="Arial"/>
              <a:buChar char="•"/>
            </a:pPr>
            <a:r>
              <a:rPr lang="en-US" sz="3007">
                <a:solidFill>
                  <a:srgbClr val="050E9B"/>
                </a:solidFill>
                <a:latin typeface="Monda"/>
                <a:ea typeface="Monda"/>
                <a:cs typeface="Monda"/>
                <a:sym typeface="Monda"/>
              </a:rPr>
              <a:t>Needs tr</a:t>
            </a:r>
            <a:r>
              <a:rPr lang="en-US" sz="3007">
                <a:solidFill>
                  <a:srgbClr val="050E9B"/>
                </a:solidFill>
                <a:latin typeface="Monda"/>
                <a:ea typeface="Monda"/>
                <a:cs typeface="Monda"/>
                <a:sym typeface="Monda"/>
              </a:rPr>
              <a:t>ained staff</a:t>
            </a:r>
          </a:p>
          <a:p>
            <a:pPr algn="just" marL="649243" indent="-324622" lvl="1">
              <a:lnSpc>
                <a:spcPts val="4210"/>
              </a:lnSpc>
              <a:buFont typeface="Arial"/>
              <a:buChar char="•"/>
            </a:pPr>
            <a:r>
              <a:rPr lang="en-US" sz="3007">
                <a:solidFill>
                  <a:srgbClr val="050E9B"/>
                </a:solidFill>
                <a:latin typeface="Monda"/>
                <a:ea typeface="Monda"/>
                <a:cs typeface="Monda"/>
                <a:sym typeface="Monda"/>
              </a:rPr>
              <a:t>System or network f</a:t>
            </a:r>
            <a:r>
              <a:rPr lang="en-US" sz="3007">
                <a:solidFill>
                  <a:srgbClr val="050E9B"/>
                </a:solidFill>
                <a:latin typeface="Monda"/>
                <a:ea typeface="Monda"/>
                <a:cs typeface="Monda"/>
                <a:sym typeface="Monda"/>
              </a:rPr>
              <a:t>ailures can affect operations</a:t>
            </a:r>
          </a:p>
          <a:p>
            <a:pPr algn="just">
              <a:lnSpc>
                <a:spcPts val="4210"/>
              </a:lnSpc>
            </a:pPr>
          </a:p>
          <a:p>
            <a:pPr algn="just">
              <a:lnSpc>
                <a:spcPts val="4210"/>
              </a:lnSpc>
            </a:pPr>
          </a:p>
          <a:p>
            <a:pPr algn="just">
              <a:lnSpc>
                <a:spcPts val="4210"/>
              </a:lnSpc>
            </a:pPr>
          </a:p>
          <a:p>
            <a:pPr algn="just">
              <a:lnSpc>
                <a:spcPts val="4210"/>
              </a:lnSpc>
            </a:pPr>
          </a:p>
          <a:p>
            <a:pPr algn="just">
              <a:lnSpc>
                <a:spcPts val="4210"/>
              </a:lnSpc>
              <a:spcBef>
                <a:spcPct val="0"/>
              </a:spcBef>
            </a:pP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3507780" y="1231068"/>
            <a:ext cx="10879298" cy="811153"/>
          </a:xfrm>
          <a:prstGeom prst="rect">
            <a:avLst/>
          </a:prstGeom>
        </p:spPr>
        <p:txBody>
          <a:bodyPr anchor="t" rtlCol="false" tIns="0" lIns="0" bIns="0" rIns="0">
            <a:spAutoFit/>
          </a:bodyPr>
          <a:lstStyle/>
          <a:p>
            <a:pPr algn="ctr">
              <a:lnSpc>
                <a:spcPts val="6687"/>
              </a:lnSpc>
            </a:pPr>
            <a:r>
              <a:rPr lang="en-US" sz="4777">
                <a:solidFill>
                  <a:srgbClr val="050E9B"/>
                </a:solidFill>
                <a:latin typeface="Merriweather Sans"/>
                <a:ea typeface="Merriweather Sans"/>
                <a:cs typeface="Merriweather Sans"/>
                <a:sym typeface="Merriweather Sans"/>
              </a:rPr>
              <a:t>CONCLUSION AND FUTURE SCOPE</a:t>
            </a:r>
          </a:p>
        </p:txBody>
      </p:sp>
      <p:sp>
        <p:nvSpPr>
          <p:cNvPr name="TextBox 8" id="8"/>
          <p:cNvSpPr txBox="true"/>
          <p:nvPr/>
        </p:nvSpPr>
        <p:spPr>
          <a:xfrm rot="0">
            <a:off x="2697430" y="2306034"/>
            <a:ext cx="13554627" cy="7454236"/>
          </a:xfrm>
          <a:prstGeom prst="rect">
            <a:avLst/>
          </a:prstGeom>
        </p:spPr>
        <p:txBody>
          <a:bodyPr anchor="t" rtlCol="false" tIns="0" lIns="0" bIns="0" rIns="0">
            <a:spAutoFit/>
          </a:bodyPr>
          <a:lstStyle/>
          <a:p>
            <a:pPr algn="just">
              <a:lnSpc>
                <a:spcPts val="4210"/>
              </a:lnSpc>
            </a:pPr>
            <a:r>
              <a:rPr lang="en-US" sz="3007">
                <a:solidFill>
                  <a:srgbClr val="050E9B"/>
                </a:solidFill>
                <a:latin typeface="Monda"/>
                <a:ea typeface="Monda"/>
                <a:cs typeface="Monda"/>
                <a:sym typeface="Monda"/>
              </a:rPr>
              <a:t>Future Scope</a:t>
            </a:r>
          </a:p>
          <a:p>
            <a:pPr algn="just" marL="649243" indent="-324622" lvl="1">
              <a:lnSpc>
                <a:spcPts val="4210"/>
              </a:lnSpc>
              <a:buFont typeface="Arial"/>
              <a:buChar char="•"/>
            </a:pPr>
            <a:r>
              <a:rPr lang="en-US" sz="3007">
                <a:solidFill>
                  <a:srgbClr val="050E9B"/>
                </a:solidFill>
                <a:latin typeface="Monda"/>
                <a:ea typeface="Monda"/>
                <a:cs typeface="Monda"/>
                <a:sym typeface="Monda"/>
              </a:rPr>
              <a:t>I</a:t>
            </a:r>
            <a:r>
              <a:rPr lang="en-US" sz="3007">
                <a:solidFill>
                  <a:srgbClr val="050E9B"/>
                </a:solidFill>
                <a:latin typeface="Monda"/>
                <a:ea typeface="Monda"/>
                <a:cs typeface="Monda"/>
                <a:sym typeface="Monda"/>
              </a:rPr>
              <a:t>ntegrate AI/ML for predictive bed allocation.</a:t>
            </a:r>
          </a:p>
          <a:p>
            <a:pPr algn="just" marL="649243" indent="-324622" lvl="1">
              <a:lnSpc>
                <a:spcPts val="4210"/>
              </a:lnSpc>
              <a:buFont typeface="Arial"/>
              <a:buChar char="•"/>
            </a:pPr>
            <a:r>
              <a:rPr lang="en-US" sz="3007">
                <a:solidFill>
                  <a:srgbClr val="050E9B"/>
                </a:solidFill>
                <a:latin typeface="Monda"/>
                <a:ea typeface="Monda"/>
                <a:cs typeface="Monda"/>
                <a:sym typeface="Monda"/>
              </a:rPr>
              <a:t>D</a:t>
            </a:r>
            <a:r>
              <a:rPr lang="en-US" sz="3007">
                <a:solidFill>
                  <a:srgbClr val="050E9B"/>
                </a:solidFill>
                <a:latin typeface="Monda"/>
                <a:ea typeface="Monda"/>
                <a:cs typeface="Monda"/>
                <a:sym typeface="Monda"/>
              </a:rPr>
              <a:t>evelop </a:t>
            </a:r>
            <a:r>
              <a:rPr lang="en-US" sz="3007">
                <a:solidFill>
                  <a:srgbClr val="050E9B"/>
                </a:solidFill>
                <a:latin typeface="Monda"/>
                <a:ea typeface="Monda"/>
                <a:cs typeface="Monda"/>
                <a:sym typeface="Monda"/>
              </a:rPr>
              <a:t>a mobile application for real-time access.</a:t>
            </a:r>
          </a:p>
          <a:p>
            <a:pPr algn="just" marL="649243" indent="-324622" lvl="1">
              <a:lnSpc>
                <a:spcPts val="4210"/>
              </a:lnSpc>
              <a:buFont typeface="Arial"/>
              <a:buChar char="•"/>
            </a:pPr>
            <a:r>
              <a:rPr lang="en-US" sz="3007">
                <a:solidFill>
                  <a:srgbClr val="050E9B"/>
                </a:solidFill>
                <a:latin typeface="Monda"/>
                <a:ea typeface="Monda"/>
                <a:cs typeface="Monda"/>
                <a:sym typeface="Monda"/>
              </a:rPr>
              <a:t>Enable cloud-based data storage and synchronization.</a:t>
            </a:r>
          </a:p>
          <a:p>
            <a:pPr algn="just" marL="649243" indent="-324622" lvl="1">
              <a:lnSpc>
                <a:spcPts val="4210"/>
              </a:lnSpc>
              <a:buFont typeface="Arial"/>
              <a:buChar char="•"/>
            </a:pPr>
            <a:r>
              <a:rPr lang="en-US" sz="3007">
                <a:solidFill>
                  <a:srgbClr val="050E9B"/>
                </a:solidFill>
                <a:latin typeface="Monda"/>
                <a:ea typeface="Monda"/>
                <a:cs typeface="Monda"/>
                <a:sym typeface="Monda"/>
              </a:rPr>
              <a:t>Suppo</a:t>
            </a:r>
            <a:r>
              <a:rPr lang="en-US" sz="3007">
                <a:solidFill>
                  <a:srgbClr val="050E9B"/>
                </a:solidFill>
                <a:latin typeface="Monda"/>
                <a:ea typeface="Monda"/>
                <a:cs typeface="Monda"/>
                <a:sym typeface="Monda"/>
              </a:rPr>
              <a:t>rt multi-hospital bed management.</a:t>
            </a:r>
          </a:p>
          <a:p>
            <a:pPr algn="just" marL="649243" indent="-324622" lvl="1">
              <a:lnSpc>
                <a:spcPts val="4210"/>
              </a:lnSpc>
              <a:buFont typeface="Arial"/>
              <a:buChar char="•"/>
            </a:pPr>
            <a:r>
              <a:rPr lang="en-US" sz="3007">
                <a:solidFill>
                  <a:srgbClr val="050E9B"/>
                </a:solidFill>
                <a:latin typeface="Monda"/>
                <a:ea typeface="Monda"/>
                <a:cs typeface="Monda"/>
                <a:sym typeface="Monda"/>
              </a:rPr>
              <a:t>Integrate with IoT-enabled smart hospital systems.</a:t>
            </a:r>
          </a:p>
          <a:p>
            <a:pPr algn="just">
              <a:lnSpc>
                <a:spcPts val="4210"/>
              </a:lnSpc>
            </a:pPr>
            <a:r>
              <a:rPr lang="en-US" sz="3007">
                <a:solidFill>
                  <a:srgbClr val="050E9B"/>
                </a:solidFill>
                <a:latin typeface="Monda"/>
                <a:ea typeface="Monda"/>
                <a:cs typeface="Monda"/>
                <a:sym typeface="Monda"/>
              </a:rPr>
              <a:t>Conclusion</a:t>
            </a:r>
          </a:p>
          <a:p>
            <a:pPr algn="just">
              <a:lnSpc>
                <a:spcPts val="4210"/>
              </a:lnSpc>
            </a:pPr>
            <a:r>
              <a:rPr lang="en-US" sz="3007">
                <a:solidFill>
                  <a:srgbClr val="050E9B"/>
                </a:solidFill>
                <a:latin typeface="Monda"/>
                <a:ea typeface="Monda"/>
                <a:cs typeface="Monda"/>
                <a:sym typeface="Monda"/>
              </a:rPr>
              <a:t>The Hospital Bed Allocation System prov</a:t>
            </a:r>
            <a:r>
              <a:rPr lang="en-US" sz="3007">
                <a:solidFill>
                  <a:srgbClr val="050E9B"/>
                </a:solidFill>
                <a:latin typeface="Monda"/>
                <a:ea typeface="Monda"/>
                <a:cs typeface="Monda"/>
                <a:sym typeface="Monda"/>
              </a:rPr>
              <a:t>ides an efficient </a:t>
            </a:r>
            <a:r>
              <a:rPr lang="en-US" sz="3007">
                <a:solidFill>
                  <a:srgbClr val="050E9B"/>
                </a:solidFill>
                <a:latin typeface="Monda"/>
                <a:ea typeface="Monda"/>
                <a:cs typeface="Monda"/>
                <a:sym typeface="Monda"/>
              </a:rPr>
              <a:t>and automated solut</a:t>
            </a:r>
            <a:r>
              <a:rPr lang="en-US" sz="3007">
                <a:solidFill>
                  <a:srgbClr val="050E9B"/>
                </a:solidFill>
                <a:latin typeface="Monda"/>
                <a:ea typeface="Monda"/>
                <a:cs typeface="Monda"/>
                <a:sym typeface="Monda"/>
              </a:rPr>
              <a:t>ion for managing hospi</a:t>
            </a:r>
            <a:r>
              <a:rPr lang="en-US" sz="3007">
                <a:solidFill>
                  <a:srgbClr val="050E9B"/>
                </a:solidFill>
                <a:latin typeface="Monda"/>
                <a:ea typeface="Monda"/>
                <a:cs typeface="Monda"/>
                <a:sym typeface="Monda"/>
              </a:rPr>
              <a:t>t</a:t>
            </a:r>
            <a:r>
              <a:rPr lang="en-US" sz="3007">
                <a:solidFill>
                  <a:srgbClr val="050E9B"/>
                </a:solidFill>
                <a:latin typeface="Monda"/>
                <a:ea typeface="Monda"/>
                <a:cs typeface="Monda"/>
                <a:sym typeface="Monda"/>
              </a:rPr>
              <a:t>al beds. By</a:t>
            </a:r>
            <a:r>
              <a:rPr lang="en-US" sz="3007">
                <a:solidFill>
                  <a:srgbClr val="050E9B"/>
                </a:solidFill>
                <a:latin typeface="Monda"/>
                <a:ea typeface="Monda"/>
                <a:cs typeface="Monda"/>
                <a:sym typeface="Monda"/>
              </a:rPr>
              <a:t> consid</a:t>
            </a:r>
            <a:r>
              <a:rPr lang="en-US" sz="3007">
                <a:solidFill>
                  <a:srgbClr val="050E9B"/>
                </a:solidFill>
                <a:latin typeface="Monda"/>
                <a:ea typeface="Monda"/>
                <a:cs typeface="Monda"/>
                <a:sym typeface="Monda"/>
              </a:rPr>
              <a:t>ering factors such as bed availability, patient priority, dep</a:t>
            </a:r>
            <a:r>
              <a:rPr lang="en-US" sz="3007">
                <a:solidFill>
                  <a:srgbClr val="050E9B"/>
                </a:solidFill>
                <a:latin typeface="Monda"/>
                <a:ea typeface="Monda"/>
                <a:cs typeface="Monda"/>
                <a:sym typeface="Monda"/>
              </a:rPr>
              <a:t>artment capacity, admission time, and occupancy rate, the system </a:t>
            </a:r>
            <a:r>
              <a:rPr lang="en-US" sz="3007">
                <a:solidFill>
                  <a:srgbClr val="050E9B"/>
                </a:solidFill>
                <a:latin typeface="Monda"/>
                <a:ea typeface="Monda"/>
                <a:cs typeface="Monda"/>
                <a:sym typeface="Monda"/>
              </a:rPr>
              <a:t>ensures faster </a:t>
            </a:r>
            <a:r>
              <a:rPr lang="en-US" sz="3007">
                <a:solidFill>
                  <a:srgbClr val="050E9B"/>
                </a:solidFill>
                <a:latin typeface="Monda"/>
                <a:ea typeface="Monda"/>
                <a:cs typeface="Monda"/>
                <a:sym typeface="Monda"/>
              </a:rPr>
              <a:t>and fairer bed allocation. It helps reduce w</a:t>
            </a:r>
            <a:r>
              <a:rPr lang="en-US" sz="3007">
                <a:solidFill>
                  <a:srgbClr val="050E9B"/>
                </a:solidFill>
                <a:latin typeface="Monda"/>
                <a:ea typeface="Monda"/>
                <a:cs typeface="Monda"/>
                <a:sym typeface="Monda"/>
              </a:rPr>
              <a:t>aiting time, improves resource utilization, and enhances the overall quality of patient care.</a:t>
            </a:r>
          </a:p>
          <a:p>
            <a:pPr algn="just">
              <a:lnSpc>
                <a:spcPts val="4210"/>
              </a:lnSpc>
              <a:spcBef>
                <a:spcPct val="0"/>
              </a:spcBef>
            </a:pP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2204" t="0" r="-2204" b="0"/>
            </a:stretch>
          </a:blipFill>
        </p:spPr>
      </p:sp>
      <p:sp>
        <p:nvSpPr>
          <p:cNvPr name="Freeform 3" id="3"/>
          <p:cNvSpPr/>
          <p:nvPr/>
        </p:nvSpPr>
        <p:spPr>
          <a:xfrm flipH="false" flipV="false" rot="0">
            <a:off x="-1584626" y="-740607"/>
            <a:ext cx="5226651" cy="4114800"/>
          </a:xfrm>
          <a:custGeom>
            <a:avLst/>
            <a:gdLst/>
            <a:ahLst/>
            <a:cxnLst/>
            <a:rect r="r" b="b" t="t" l="l"/>
            <a:pathLst>
              <a:path h="4114800" w="5226651">
                <a:moveTo>
                  <a:pt x="0" y="0"/>
                </a:moveTo>
                <a:lnTo>
                  <a:pt x="5226652" y="0"/>
                </a:lnTo>
                <a:lnTo>
                  <a:pt x="522665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true" rot="0">
            <a:off x="14645974" y="7042697"/>
            <a:ext cx="5226651" cy="4114800"/>
          </a:xfrm>
          <a:custGeom>
            <a:avLst/>
            <a:gdLst/>
            <a:ahLst/>
            <a:cxnLst/>
            <a:rect r="r" b="b" t="t" l="l"/>
            <a:pathLst>
              <a:path h="4114800" w="5226651">
                <a:moveTo>
                  <a:pt x="5226652" y="4114800"/>
                </a:moveTo>
                <a:lnTo>
                  <a:pt x="0" y="4114800"/>
                </a:lnTo>
                <a:lnTo>
                  <a:pt x="0" y="0"/>
                </a:lnTo>
                <a:lnTo>
                  <a:pt x="5226652" y="0"/>
                </a:lnTo>
                <a:lnTo>
                  <a:pt x="5226652" y="41148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729343" y="-740607"/>
            <a:ext cx="3059915" cy="4114800"/>
          </a:xfrm>
          <a:custGeom>
            <a:avLst/>
            <a:gdLst/>
            <a:ahLst/>
            <a:cxnLst/>
            <a:rect r="r" b="b" t="t" l="l"/>
            <a:pathLst>
              <a:path h="4114800" w="3059915">
                <a:moveTo>
                  <a:pt x="0" y="0"/>
                </a:moveTo>
                <a:lnTo>
                  <a:pt x="3059914" y="0"/>
                </a:lnTo>
                <a:lnTo>
                  <a:pt x="305991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true" flipV="true" rot="0">
            <a:off x="-501257" y="7042697"/>
            <a:ext cx="3059915" cy="4114800"/>
          </a:xfrm>
          <a:custGeom>
            <a:avLst/>
            <a:gdLst/>
            <a:ahLst/>
            <a:cxnLst/>
            <a:rect r="r" b="b" t="t" l="l"/>
            <a:pathLst>
              <a:path h="4114800" w="3059915">
                <a:moveTo>
                  <a:pt x="3059914" y="4114800"/>
                </a:moveTo>
                <a:lnTo>
                  <a:pt x="0" y="4114800"/>
                </a:lnTo>
                <a:lnTo>
                  <a:pt x="0" y="0"/>
                </a:lnTo>
                <a:lnTo>
                  <a:pt x="3059914" y="0"/>
                </a:lnTo>
                <a:lnTo>
                  <a:pt x="3059914"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846488" y="3962424"/>
            <a:ext cx="14595024" cy="2124027"/>
          </a:xfrm>
          <a:prstGeom prst="rect">
            <a:avLst/>
          </a:prstGeom>
        </p:spPr>
        <p:txBody>
          <a:bodyPr anchor="t" rtlCol="false" tIns="0" lIns="0" bIns="0" rIns="0">
            <a:spAutoFit/>
          </a:bodyPr>
          <a:lstStyle/>
          <a:p>
            <a:pPr algn="ctr">
              <a:lnSpc>
                <a:spcPts val="17386"/>
              </a:lnSpc>
            </a:pPr>
            <a:r>
              <a:rPr lang="en-US" sz="12418">
                <a:solidFill>
                  <a:srgbClr val="050E9B"/>
                </a:solidFill>
                <a:latin typeface="Merriweather Sans"/>
                <a:ea typeface="Merriweather Sans"/>
                <a:cs typeface="Merriweather Sans"/>
                <a:sym typeface="Merriweather San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DAHQ1LMp6FI</dc:identifier>
  <dcterms:modified xsi:type="dcterms:W3CDTF">2011-08-01T06:04:30Z</dcterms:modified>
  <cp:revision>1</cp:revision>
  <dc:title>UBA0407-DISCRETE MATHEMATHICS</dc:title>
</cp:coreProperties>
</file>