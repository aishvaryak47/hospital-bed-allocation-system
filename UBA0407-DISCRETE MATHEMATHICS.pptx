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Merriweather Sans" panose="020F0502020204030204" pitchFamily="2" charset="0"/>
      <p:regular r:id="rId19"/>
    </p:embeddedFont>
    <p:embeddedFont>
      <p:font typeface="Merriweather Sans Bold" panose="020B0604020202020204" charset="0"/>
      <p:regular r:id="rId20"/>
    </p:embeddedFont>
    <p:embeddedFont>
      <p:font typeface="Monda"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ishvarya K" userId="f431b196993744b0" providerId="LiveId" clId="{04EB0B79-1776-4371-B4BB-3DFEA071FB25}"/>
    <pc:docChg chg="modSld">
      <pc:chgData name="Aishvarya K" userId="f431b196993744b0" providerId="LiveId" clId="{04EB0B79-1776-4371-B4BB-3DFEA071FB25}" dt="2026-09-01T07:53:57.990" v="40"/>
      <pc:docMkLst>
        <pc:docMk/>
      </pc:docMkLst>
      <pc:sldChg chg="delSp modSp mod">
        <pc:chgData name="Aishvarya K" userId="f431b196993744b0" providerId="LiveId" clId="{04EB0B79-1776-4371-B4BB-3DFEA071FB25}" dt="2026-09-01T07:53:57.990" v="40"/>
        <pc:sldMkLst>
          <pc:docMk/>
          <pc:sldMk cId="0" sldId="256"/>
        </pc:sldMkLst>
        <pc:spChg chg="mod">
          <ac:chgData name="Aishvarya K" userId="f431b196993744b0" providerId="LiveId" clId="{04EB0B79-1776-4371-B4BB-3DFEA071FB25}" dt="2026-09-01T07:53:56.264" v="38" actId="20577"/>
          <ac:spMkLst>
            <pc:docMk/>
            <pc:sldMk cId="0" sldId="256"/>
            <ac:spMk id="8" creationId="{00000000-0000-0000-0000-000000000000}"/>
          </ac:spMkLst>
        </pc:spChg>
        <pc:spChg chg="del mod">
          <ac:chgData name="Aishvarya K" userId="f431b196993744b0" providerId="LiveId" clId="{04EB0B79-1776-4371-B4BB-3DFEA071FB25}" dt="2026-09-01T07:53:57.990" v="40"/>
          <ac:spMkLst>
            <pc:docMk/>
            <pc:sldMk cId="0" sldId="256"/>
            <ac:spMk id="9"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a:off x="3436190" y="59570"/>
            <a:ext cx="11704591" cy="1938260"/>
          </a:xfrm>
          <a:custGeom>
            <a:avLst/>
            <a:gdLst/>
            <a:ahLst/>
            <a:cxnLst/>
            <a:rect l="l" t="t" r="r" b="b"/>
            <a:pathLst>
              <a:path w="11704591" h="1938260">
                <a:moveTo>
                  <a:pt x="0" y="0"/>
                </a:moveTo>
                <a:lnTo>
                  <a:pt x="11704592" y="0"/>
                </a:lnTo>
                <a:lnTo>
                  <a:pt x="11704592" y="1938260"/>
                </a:lnTo>
                <a:lnTo>
                  <a:pt x="0" y="1938260"/>
                </a:lnTo>
                <a:lnTo>
                  <a:pt x="0" y="0"/>
                </a:lnTo>
                <a:close/>
              </a:path>
            </a:pathLst>
          </a:custGeom>
          <a:blipFill>
            <a:blip r:embed="rId5"/>
            <a:stretch>
              <a:fillRect/>
            </a:stretch>
          </a:blipFill>
        </p:spPr>
      </p:sp>
      <p:sp>
        <p:nvSpPr>
          <p:cNvPr id="8" name="TextBox 8"/>
          <p:cNvSpPr txBox="1"/>
          <p:nvPr/>
        </p:nvSpPr>
        <p:spPr>
          <a:xfrm>
            <a:off x="2714875" y="2843284"/>
            <a:ext cx="13147222" cy="2973891"/>
          </a:xfrm>
          <a:prstGeom prst="rect">
            <a:avLst/>
          </a:prstGeom>
        </p:spPr>
        <p:txBody>
          <a:bodyPr lIns="0" tIns="0" rIns="0" bIns="0" rtlCol="0" anchor="t">
            <a:spAutoFit/>
          </a:bodyPr>
          <a:lstStyle/>
          <a:p>
            <a:pPr algn="ctr">
              <a:lnSpc>
                <a:spcPts val="7857"/>
              </a:lnSpc>
            </a:pPr>
            <a:r>
              <a:rPr lang="en-US" sz="5612" dirty="0">
                <a:solidFill>
                  <a:srgbClr val="050E9B"/>
                </a:solidFill>
                <a:latin typeface="Merriweather Sans"/>
                <a:ea typeface="Merriweather Sans"/>
                <a:cs typeface="Merriweather Sans"/>
                <a:sym typeface="Merriweather Sans"/>
              </a:rPr>
              <a:t>AN INTELLIGENT HOSPITAL BED ALLOCATION SYSTEM USING GRAPH THEORY</a:t>
            </a:r>
          </a:p>
        </p:txBody>
      </p:sp>
      <p:sp>
        <p:nvSpPr>
          <p:cNvPr id="10" name="TextBox 10"/>
          <p:cNvSpPr txBox="1"/>
          <p:nvPr/>
        </p:nvSpPr>
        <p:spPr>
          <a:xfrm>
            <a:off x="6376600" y="6813692"/>
            <a:ext cx="6376713" cy="1483714"/>
          </a:xfrm>
          <a:prstGeom prst="rect">
            <a:avLst/>
          </a:prstGeom>
        </p:spPr>
        <p:txBody>
          <a:bodyPr lIns="0" tIns="0" rIns="0" bIns="0" rtlCol="0" anchor="t">
            <a:spAutoFit/>
          </a:bodyPr>
          <a:lstStyle/>
          <a:p>
            <a:pPr algn="ctr">
              <a:lnSpc>
                <a:spcPts val="3925"/>
              </a:lnSpc>
            </a:pPr>
            <a:r>
              <a:rPr lang="en-US" sz="2804">
                <a:solidFill>
                  <a:srgbClr val="050E9B"/>
                </a:solidFill>
                <a:latin typeface="Monda"/>
                <a:ea typeface="Monda"/>
                <a:cs typeface="Monda"/>
                <a:sym typeface="Monda"/>
              </a:rPr>
              <a:t>AISHVARYA K-192324007</a:t>
            </a:r>
          </a:p>
          <a:p>
            <a:pPr algn="ctr">
              <a:lnSpc>
                <a:spcPts val="3925"/>
              </a:lnSpc>
            </a:pPr>
            <a:r>
              <a:rPr lang="en-US" sz="2804">
                <a:solidFill>
                  <a:srgbClr val="050E9B"/>
                </a:solidFill>
                <a:latin typeface="Monda"/>
                <a:ea typeface="Monda"/>
                <a:cs typeface="Monda"/>
                <a:sym typeface="Monda"/>
              </a:rPr>
              <a:t>OVIYA M -192321117</a:t>
            </a:r>
          </a:p>
          <a:p>
            <a:pPr algn="ctr">
              <a:lnSpc>
                <a:spcPts val="3925"/>
              </a:lnSpc>
              <a:spcBef>
                <a:spcPct val="0"/>
              </a:spcBef>
            </a:pPr>
            <a:r>
              <a:rPr lang="en-US" sz="2804">
                <a:solidFill>
                  <a:srgbClr val="050E9B"/>
                </a:solidFill>
                <a:latin typeface="Monda"/>
                <a:ea typeface="Monda"/>
                <a:cs typeface="Monda"/>
                <a:sym typeface="Monda"/>
              </a:rPr>
              <a:t>KANMANI L-192511414</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29903" y="1742363"/>
            <a:ext cx="11228195" cy="1631831"/>
          </a:xfrm>
          <a:prstGeom prst="rect">
            <a:avLst/>
          </a:prstGeom>
        </p:spPr>
        <p:txBody>
          <a:bodyPr lIns="0" tIns="0" rIns="0" bIns="0" rtlCol="0" anchor="t">
            <a:spAutoFit/>
          </a:bodyPr>
          <a:lstStyle/>
          <a:p>
            <a:pPr algn="ctr">
              <a:lnSpc>
                <a:spcPts val="13375"/>
              </a:lnSpc>
            </a:pPr>
            <a:r>
              <a:rPr lang="en-US" sz="9554">
                <a:solidFill>
                  <a:srgbClr val="050E9B"/>
                </a:solidFill>
                <a:latin typeface="Merriweather Sans"/>
                <a:ea typeface="Merriweather Sans"/>
                <a:cs typeface="Merriweather Sans"/>
                <a:sym typeface="Merriweather Sans"/>
              </a:rPr>
              <a:t>ABSTRACT</a:t>
            </a:r>
          </a:p>
        </p:txBody>
      </p:sp>
      <p:sp>
        <p:nvSpPr>
          <p:cNvPr id="8" name="TextBox 8"/>
          <p:cNvSpPr txBox="1"/>
          <p:nvPr/>
        </p:nvSpPr>
        <p:spPr>
          <a:xfrm>
            <a:off x="2192246" y="3317043"/>
            <a:ext cx="13815017" cy="5433958"/>
          </a:xfrm>
          <a:prstGeom prst="rect">
            <a:avLst/>
          </a:prstGeom>
        </p:spPr>
        <p:txBody>
          <a:bodyPr lIns="0" tIns="0" rIns="0" bIns="0" rtlCol="0" anchor="t">
            <a:spAutoFit/>
          </a:bodyPr>
          <a:lstStyle/>
          <a:p>
            <a:pPr marL="607679" lvl="1" indent="-303839" algn="l">
              <a:lnSpc>
                <a:spcPts val="3940"/>
              </a:lnSpc>
              <a:buFont typeface="Arial"/>
              <a:buChar char="•"/>
            </a:pPr>
            <a:r>
              <a:rPr lang="en-US" sz="2814">
                <a:solidFill>
                  <a:srgbClr val="050E9B"/>
                </a:solidFill>
                <a:latin typeface="Monda"/>
                <a:ea typeface="Monda"/>
                <a:cs typeface="Monda"/>
                <a:sym typeface="Monda"/>
              </a:rPr>
              <a:t>Hospital bed allocation is one of the most important challenges in healthcare management.</a:t>
            </a:r>
          </a:p>
          <a:p>
            <a:pPr marL="607679" lvl="1" indent="-303839" algn="l">
              <a:lnSpc>
                <a:spcPts val="3940"/>
              </a:lnSpc>
              <a:buFont typeface="Arial"/>
              <a:buChar char="•"/>
            </a:pPr>
            <a:r>
              <a:rPr lang="en-US" sz="2814">
                <a:solidFill>
                  <a:srgbClr val="050E9B"/>
                </a:solidFill>
                <a:latin typeface="Monda"/>
                <a:ea typeface="Monda"/>
                <a:cs typeface="Monda"/>
                <a:sym typeface="Monda"/>
              </a:rPr>
              <a:t> Manual allocation often results in delays, inefficient resource utilization, and increased patient waiting times.</a:t>
            </a:r>
          </a:p>
          <a:p>
            <a:pPr marL="607679" lvl="1" indent="-303839" algn="l">
              <a:lnSpc>
                <a:spcPts val="3940"/>
              </a:lnSpc>
              <a:buFont typeface="Arial"/>
              <a:buChar char="•"/>
            </a:pPr>
            <a:r>
              <a:rPr lang="en-US" sz="2814">
                <a:solidFill>
                  <a:srgbClr val="050E9B"/>
                </a:solidFill>
                <a:latin typeface="Monda"/>
                <a:ea typeface="Monda"/>
                <a:cs typeface="Monda"/>
                <a:sym typeface="Monda"/>
              </a:rPr>
              <a:t>This project proposes an intelligent Hospital Bed Allocation System that automatically assigns beds based on patient priority, bed availability, department capacity, admission time, and occupancy rate. </a:t>
            </a:r>
          </a:p>
          <a:p>
            <a:pPr marL="607679" lvl="1" indent="-303839" algn="l">
              <a:lnSpc>
                <a:spcPts val="3940"/>
              </a:lnSpc>
              <a:buFont typeface="Arial"/>
              <a:buChar char="•"/>
            </a:pPr>
            <a:r>
              <a:rPr lang="en-US" sz="2814">
                <a:solidFill>
                  <a:srgbClr val="050E9B"/>
                </a:solidFill>
                <a:latin typeface="Monda"/>
                <a:ea typeface="Monda"/>
                <a:cs typeface="Monda"/>
                <a:sym typeface="Monda"/>
              </a:rPr>
              <a:t>The system uses concepts from Discrete Mathematics such as graph theory and optimization to allocate resources efficiently.</a:t>
            </a:r>
          </a:p>
          <a:p>
            <a:pPr marL="607679" lvl="1" indent="-303839" algn="l">
              <a:lnSpc>
                <a:spcPts val="3940"/>
              </a:lnSpc>
              <a:buFont typeface="Arial"/>
              <a:buChar char="•"/>
            </a:pPr>
            <a:r>
              <a:rPr lang="en-US" sz="2814">
                <a:solidFill>
                  <a:srgbClr val="050E9B"/>
                </a:solidFill>
                <a:latin typeface="Monda"/>
                <a:ea typeface="Monda"/>
                <a:cs typeface="Monda"/>
                <a:sym typeface="Monda"/>
              </a:rPr>
              <a:t>The application is developed using Python, Flask, MySQL, NetworkX, HTML, and CSS to provide a user-friendly and scalable solution for hospitals.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29903" y="1351445"/>
            <a:ext cx="11228195" cy="1631831"/>
          </a:xfrm>
          <a:prstGeom prst="rect">
            <a:avLst/>
          </a:prstGeom>
        </p:spPr>
        <p:txBody>
          <a:bodyPr lIns="0" tIns="0" rIns="0" bIns="0" rtlCol="0" anchor="t">
            <a:spAutoFit/>
          </a:bodyPr>
          <a:lstStyle/>
          <a:p>
            <a:pPr algn="ctr">
              <a:lnSpc>
                <a:spcPts val="13375"/>
              </a:lnSpc>
            </a:pPr>
            <a:r>
              <a:rPr lang="en-US" sz="9554">
                <a:solidFill>
                  <a:srgbClr val="050E9B"/>
                </a:solidFill>
                <a:latin typeface="Merriweather Sans"/>
                <a:ea typeface="Merriweather Sans"/>
                <a:cs typeface="Merriweather Sans"/>
                <a:sym typeface="Merriweather Sans"/>
              </a:rPr>
              <a:t>INTRODUCTION</a:t>
            </a:r>
          </a:p>
        </p:txBody>
      </p:sp>
      <p:sp>
        <p:nvSpPr>
          <p:cNvPr id="8" name="TextBox 8"/>
          <p:cNvSpPr txBox="1"/>
          <p:nvPr/>
        </p:nvSpPr>
        <p:spPr>
          <a:xfrm>
            <a:off x="2558657" y="2926126"/>
            <a:ext cx="13620533" cy="6720440"/>
          </a:xfrm>
          <a:prstGeom prst="rect">
            <a:avLst/>
          </a:prstGeom>
        </p:spPr>
        <p:txBody>
          <a:bodyPr lIns="0" tIns="0" rIns="0" bIns="0" rtlCol="0" anchor="t">
            <a:spAutoFit/>
          </a:bodyPr>
          <a:lstStyle/>
          <a:p>
            <a:pPr algn="l">
              <a:lnSpc>
                <a:spcPts val="4432"/>
              </a:lnSpc>
            </a:pPr>
            <a:r>
              <a:rPr lang="en-US" sz="3165">
                <a:solidFill>
                  <a:srgbClr val="050E9B"/>
                </a:solidFill>
                <a:latin typeface="Monda"/>
                <a:ea typeface="Monda"/>
                <a:cs typeface="Monda"/>
                <a:sym typeface="Monda"/>
              </a:rPr>
              <a:t>Hospitals receive patients with different medical conditions every day.</a:t>
            </a:r>
          </a:p>
          <a:p>
            <a:pPr algn="l">
              <a:lnSpc>
                <a:spcPts val="4432"/>
              </a:lnSpc>
            </a:pPr>
            <a:r>
              <a:rPr lang="en-US" sz="3165">
                <a:solidFill>
                  <a:srgbClr val="050E9B"/>
                </a:solidFill>
                <a:latin typeface="Monda"/>
                <a:ea typeface="Monda"/>
                <a:cs typeface="Monda"/>
                <a:sym typeface="Monda"/>
              </a:rPr>
              <a:t>Managing available beds manually can cause</a:t>
            </a:r>
          </a:p>
          <a:p>
            <a:pPr marL="683487" lvl="1" indent="-341744" algn="l">
              <a:lnSpc>
                <a:spcPts val="4432"/>
              </a:lnSpc>
              <a:buFont typeface="Arial"/>
              <a:buChar char="•"/>
            </a:pPr>
            <a:r>
              <a:rPr lang="en-US" sz="3165">
                <a:solidFill>
                  <a:srgbClr val="050E9B"/>
                </a:solidFill>
                <a:latin typeface="Monda"/>
                <a:ea typeface="Monda"/>
                <a:cs typeface="Monda"/>
                <a:sym typeface="Monda"/>
              </a:rPr>
              <a:t>Delayed admissions</a:t>
            </a:r>
          </a:p>
          <a:p>
            <a:pPr marL="683487" lvl="1" indent="-341744" algn="l">
              <a:lnSpc>
                <a:spcPts val="4432"/>
              </a:lnSpc>
              <a:buFont typeface="Arial"/>
              <a:buChar char="•"/>
            </a:pPr>
            <a:r>
              <a:rPr lang="en-US" sz="3165">
                <a:solidFill>
                  <a:srgbClr val="050E9B"/>
                </a:solidFill>
                <a:latin typeface="Monda"/>
                <a:ea typeface="Monda"/>
                <a:cs typeface="Monda"/>
                <a:sym typeface="Monda"/>
              </a:rPr>
              <a:t>Emergency treatment delays</a:t>
            </a:r>
          </a:p>
          <a:p>
            <a:pPr marL="683487" lvl="1" indent="-341744" algn="l">
              <a:lnSpc>
                <a:spcPts val="4432"/>
              </a:lnSpc>
              <a:buFont typeface="Arial"/>
              <a:buChar char="•"/>
            </a:pPr>
            <a:r>
              <a:rPr lang="en-US" sz="3165">
                <a:solidFill>
                  <a:srgbClr val="050E9B"/>
                </a:solidFill>
                <a:latin typeface="Monda"/>
                <a:ea typeface="Monda"/>
                <a:cs typeface="Monda"/>
                <a:sym typeface="Monda"/>
              </a:rPr>
              <a:t>Bed shortages</a:t>
            </a:r>
          </a:p>
          <a:p>
            <a:pPr marL="683487" lvl="1" indent="-341744" algn="l">
              <a:lnSpc>
                <a:spcPts val="4432"/>
              </a:lnSpc>
              <a:buFont typeface="Arial"/>
              <a:buChar char="•"/>
            </a:pPr>
            <a:r>
              <a:rPr lang="en-US" sz="3165">
                <a:solidFill>
                  <a:srgbClr val="050E9B"/>
                </a:solidFill>
                <a:latin typeface="Monda"/>
                <a:ea typeface="Monda"/>
                <a:cs typeface="Monda"/>
                <a:sym typeface="Monda"/>
              </a:rPr>
              <a:t>Poor utilization of hospital resources</a:t>
            </a:r>
          </a:p>
          <a:p>
            <a:pPr algn="l">
              <a:lnSpc>
                <a:spcPts val="4432"/>
              </a:lnSpc>
            </a:pPr>
            <a:r>
              <a:rPr lang="en-US" sz="3165">
                <a:solidFill>
                  <a:srgbClr val="050E9B"/>
                </a:solidFill>
                <a:latin typeface="Monda"/>
                <a:ea typeface="Monda"/>
                <a:cs typeface="Monda"/>
                <a:sym typeface="Monda"/>
              </a:rPr>
              <a:t>An automated allocation system helps hospitals</a:t>
            </a:r>
          </a:p>
          <a:p>
            <a:pPr marL="683487" lvl="1" indent="-341744" algn="l">
              <a:lnSpc>
                <a:spcPts val="4432"/>
              </a:lnSpc>
              <a:buFont typeface="Arial"/>
              <a:buChar char="•"/>
            </a:pPr>
            <a:r>
              <a:rPr lang="en-US" sz="3165">
                <a:solidFill>
                  <a:srgbClr val="050E9B"/>
                </a:solidFill>
                <a:latin typeface="Monda"/>
                <a:ea typeface="Monda"/>
                <a:cs typeface="Monda"/>
                <a:sym typeface="Monda"/>
              </a:rPr>
              <a:t>Allocate beds quickly</a:t>
            </a:r>
          </a:p>
          <a:p>
            <a:pPr marL="683487" lvl="1" indent="-341744" algn="l">
              <a:lnSpc>
                <a:spcPts val="4432"/>
              </a:lnSpc>
              <a:buFont typeface="Arial"/>
              <a:buChar char="•"/>
            </a:pPr>
            <a:r>
              <a:rPr lang="en-US" sz="3165">
                <a:solidFill>
                  <a:srgbClr val="050E9B"/>
                </a:solidFill>
                <a:latin typeface="Monda"/>
                <a:ea typeface="Monda"/>
                <a:cs typeface="Monda"/>
                <a:sym typeface="Monda"/>
              </a:rPr>
              <a:t>Prioritize emergency cases</a:t>
            </a:r>
          </a:p>
          <a:p>
            <a:pPr marL="683487" lvl="1" indent="-341744" algn="l">
              <a:lnSpc>
                <a:spcPts val="4432"/>
              </a:lnSpc>
              <a:buFont typeface="Arial"/>
              <a:buChar char="•"/>
            </a:pPr>
            <a:r>
              <a:rPr lang="en-US" sz="3165">
                <a:solidFill>
                  <a:srgbClr val="050E9B"/>
                </a:solidFill>
                <a:latin typeface="Monda"/>
                <a:ea typeface="Monda"/>
                <a:cs typeface="Monda"/>
                <a:sym typeface="Monda"/>
              </a:rPr>
              <a:t>Improve patient care</a:t>
            </a:r>
          </a:p>
          <a:p>
            <a:pPr marL="683487" lvl="1" indent="-341744" algn="l">
              <a:lnSpc>
                <a:spcPts val="4432"/>
              </a:lnSpc>
              <a:buFont typeface="Arial"/>
              <a:buChar char="•"/>
            </a:pPr>
            <a:r>
              <a:rPr lang="en-US" sz="3165">
                <a:solidFill>
                  <a:srgbClr val="050E9B"/>
                </a:solidFill>
                <a:latin typeface="Monda"/>
                <a:ea typeface="Monda"/>
                <a:cs typeface="Monda"/>
                <a:sym typeface="Monda"/>
              </a:rPr>
              <a:t>Utilize hospital resources efficiently</a:t>
            </a:r>
          </a:p>
          <a:p>
            <a:pPr algn="l">
              <a:lnSpc>
                <a:spcPts val="4432"/>
              </a:lnSpc>
            </a:pPr>
            <a:endParaRPr lang="en-US" sz="3165">
              <a:solidFill>
                <a:srgbClr val="050E9B"/>
              </a:solidFill>
              <a:latin typeface="Monda"/>
              <a:ea typeface="Monda"/>
              <a:cs typeface="Monda"/>
              <a:sym typeface="Mond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164309" y="1411708"/>
            <a:ext cx="11228195" cy="1631831"/>
          </a:xfrm>
          <a:prstGeom prst="rect">
            <a:avLst/>
          </a:prstGeom>
        </p:spPr>
        <p:txBody>
          <a:bodyPr lIns="0" tIns="0" rIns="0" bIns="0" rtlCol="0" anchor="t">
            <a:spAutoFit/>
          </a:bodyPr>
          <a:lstStyle/>
          <a:p>
            <a:pPr algn="ctr">
              <a:lnSpc>
                <a:spcPts val="13375"/>
              </a:lnSpc>
            </a:pPr>
            <a:r>
              <a:rPr lang="en-US" sz="9554">
                <a:solidFill>
                  <a:srgbClr val="050E9B"/>
                </a:solidFill>
                <a:latin typeface="Merriweather Sans"/>
                <a:ea typeface="Merriweather Sans"/>
                <a:cs typeface="Merriweather Sans"/>
                <a:sym typeface="Merriweather Sans"/>
              </a:rPr>
              <a:t>OBJECTIVES</a:t>
            </a:r>
          </a:p>
        </p:txBody>
      </p:sp>
      <p:sp>
        <p:nvSpPr>
          <p:cNvPr id="8" name="TextBox 8"/>
          <p:cNvSpPr txBox="1"/>
          <p:nvPr/>
        </p:nvSpPr>
        <p:spPr>
          <a:xfrm>
            <a:off x="2973937" y="3307518"/>
            <a:ext cx="11089436" cy="6106920"/>
          </a:xfrm>
          <a:prstGeom prst="rect">
            <a:avLst/>
          </a:prstGeom>
        </p:spPr>
        <p:txBody>
          <a:bodyPr lIns="0" tIns="0" rIns="0" bIns="0" rtlCol="0" anchor="t">
            <a:spAutoFit/>
          </a:bodyPr>
          <a:lstStyle/>
          <a:p>
            <a:pPr algn="l">
              <a:lnSpc>
                <a:spcPts val="4832"/>
              </a:lnSpc>
            </a:pPr>
            <a:r>
              <a:rPr lang="en-US" sz="3452">
                <a:solidFill>
                  <a:srgbClr val="050E9B"/>
                </a:solidFill>
                <a:latin typeface="Monda"/>
                <a:ea typeface="Monda"/>
                <a:cs typeface="Monda"/>
                <a:sym typeface="Monda"/>
              </a:rPr>
              <a:t>The main objectives of the project are:</a:t>
            </a:r>
          </a:p>
          <a:p>
            <a:pPr marL="745293" lvl="1" indent="-372646" algn="l">
              <a:lnSpc>
                <a:spcPts val="4832"/>
              </a:lnSpc>
              <a:buFont typeface="Arial"/>
              <a:buChar char="•"/>
            </a:pPr>
            <a:r>
              <a:rPr lang="en-US" sz="3452">
                <a:solidFill>
                  <a:srgbClr val="050E9B"/>
                </a:solidFill>
                <a:latin typeface="Monda"/>
                <a:ea typeface="Monda"/>
                <a:cs typeface="Monda"/>
                <a:sym typeface="Monda"/>
              </a:rPr>
              <a:t>Automate hospital bed allocation</a:t>
            </a:r>
          </a:p>
          <a:p>
            <a:pPr marL="745293" lvl="1" indent="-372646" algn="l">
              <a:lnSpc>
                <a:spcPts val="4832"/>
              </a:lnSpc>
              <a:buFont typeface="Arial"/>
              <a:buChar char="•"/>
            </a:pPr>
            <a:r>
              <a:rPr lang="en-US" sz="3452">
                <a:solidFill>
                  <a:srgbClr val="050E9B"/>
                </a:solidFill>
                <a:latin typeface="Monda"/>
                <a:ea typeface="Monda"/>
                <a:cs typeface="Monda"/>
                <a:sym typeface="Monda"/>
              </a:rPr>
              <a:t>Reduce patient waiting time</a:t>
            </a:r>
          </a:p>
          <a:p>
            <a:pPr marL="745293" lvl="1" indent="-372646" algn="l">
              <a:lnSpc>
                <a:spcPts val="4832"/>
              </a:lnSpc>
              <a:buFont typeface="Arial"/>
              <a:buChar char="•"/>
            </a:pPr>
            <a:r>
              <a:rPr lang="en-US" sz="3452">
                <a:solidFill>
                  <a:srgbClr val="050E9B"/>
                </a:solidFill>
                <a:latin typeface="Monda"/>
                <a:ea typeface="Monda"/>
                <a:cs typeface="Monda"/>
                <a:sym typeface="Monda"/>
              </a:rPr>
              <a:t>Improve bed utilization</a:t>
            </a:r>
          </a:p>
          <a:p>
            <a:pPr marL="745293" lvl="1" indent="-372646" algn="l">
              <a:lnSpc>
                <a:spcPts val="4832"/>
              </a:lnSpc>
              <a:buFont typeface="Arial"/>
              <a:buChar char="•"/>
            </a:pPr>
            <a:r>
              <a:rPr lang="en-US" sz="3452">
                <a:solidFill>
                  <a:srgbClr val="050E9B"/>
                </a:solidFill>
                <a:latin typeface="Monda"/>
                <a:ea typeface="Monda"/>
                <a:cs typeface="Monda"/>
                <a:sym typeface="Monda"/>
              </a:rPr>
              <a:t>Prioritize critical patients</a:t>
            </a:r>
          </a:p>
          <a:p>
            <a:pPr marL="745293" lvl="1" indent="-372646" algn="l">
              <a:lnSpc>
                <a:spcPts val="4832"/>
              </a:lnSpc>
              <a:buFont typeface="Arial"/>
              <a:buChar char="•"/>
            </a:pPr>
            <a:r>
              <a:rPr lang="en-US" sz="3452">
                <a:solidFill>
                  <a:srgbClr val="050E9B"/>
                </a:solidFill>
                <a:latin typeface="Monda"/>
                <a:ea typeface="Monda"/>
                <a:cs typeface="Monda"/>
                <a:sym typeface="Monda"/>
              </a:rPr>
              <a:t>Monitor department-wise bed availability</a:t>
            </a:r>
          </a:p>
          <a:p>
            <a:pPr marL="745293" lvl="1" indent="-372646" algn="l">
              <a:lnSpc>
                <a:spcPts val="4832"/>
              </a:lnSpc>
              <a:buFont typeface="Arial"/>
              <a:buChar char="•"/>
            </a:pPr>
            <a:r>
              <a:rPr lang="en-US" sz="3452">
                <a:solidFill>
                  <a:srgbClr val="050E9B"/>
                </a:solidFill>
                <a:latin typeface="Monda"/>
                <a:ea typeface="Monda"/>
                <a:cs typeface="Monda"/>
                <a:sym typeface="Monda"/>
              </a:rPr>
              <a:t>Maintain centralized patient records</a:t>
            </a:r>
          </a:p>
          <a:p>
            <a:pPr marL="745293" lvl="1" indent="-372646" algn="l">
              <a:lnSpc>
                <a:spcPts val="4832"/>
              </a:lnSpc>
              <a:buFont typeface="Arial"/>
              <a:buChar char="•"/>
            </a:pPr>
            <a:r>
              <a:rPr lang="en-US" sz="3452">
                <a:solidFill>
                  <a:srgbClr val="050E9B"/>
                </a:solidFill>
                <a:latin typeface="Monda"/>
                <a:ea typeface="Monda"/>
                <a:cs typeface="Monda"/>
                <a:sym typeface="Monda"/>
              </a:rPr>
              <a:t>Improve hospital efficiency using optimization techniques</a:t>
            </a:r>
          </a:p>
          <a:p>
            <a:pPr algn="l">
              <a:lnSpc>
                <a:spcPts val="4832"/>
              </a:lnSpc>
              <a:spcBef>
                <a:spcPct val="0"/>
              </a:spcBef>
            </a:pPr>
            <a:endParaRPr lang="en-US" sz="3452">
              <a:solidFill>
                <a:srgbClr val="050E9B"/>
              </a:solidFill>
              <a:latin typeface="Monda"/>
              <a:ea typeface="Monda"/>
              <a:cs typeface="Monda"/>
              <a:sym typeface="Monda"/>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29903" y="1549820"/>
            <a:ext cx="11228195" cy="1631831"/>
          </a:xfrm>
          <a:prstGeom prst="rect">
            <a:avLst/>
          </a:prstGeom>
        </p:spPr>
        <p:txBody>
          <a:bodyPr lIns="0" tIns="0" rIns="0" bIns="0" rtlCol="0" anchor="t">
            <a:spAutoFit/>
          </a:bodyPr>
          <a:lstStyle/>
          <a:p>
            <a:pPr algn="ctr">
              <a:lnSpc>
                <a:spcPts val="13375"/>
              </a:lnSpc>
            </a:pPr>
            <a:r>
              <a:rPr lang="en-US" sz="9554">
                <a:solidFill>
                  <a:srgbClr val="050E9B"/>
                </a:solidFill>
                <a:latin typeface="Merriweather Sans"/>
                <a:ea typeface="Merriweather Sans"/>
                <a:cs typeface="Merriweather Sans"/>
                <a:sym typeface="Merriweather Sans"/>
              </a:rPr>
              <a:t>PROJECT CONCEPT</a:t>
            </a:r>
          </a:p>
        </p:txBody>
      </p:sp>
      <p:sp>
        <p:nvSpPr>
          <p:cNvPr id="8" name="TextBox 8"/>
          <p:cNvSpPr txBox="1"/>
          <p:nvPr/>
        </p:nvSpPr>
        <p:spPr>
          <a:xfrm>
            <a:off x="3331515" y="3124501"/>
            <a:ext cx="11624970" cy="6720440"/>
          </a:xfrm>
          <a:prstGeom prst="rect">
            <a:avLst/>
          </a:prstGeom>
        </p:spPr>
        <p:txBody>
          <a:bodyPr lIns="0" tIns="0" rIns="0" bIns="0" rtlCol="0" anchor="t">
            <a:spAutoFit/>
          </a:bodyPr>
          <a:lstStyle/>
          <a:p>
            <a:pPr algn="l">
              <a:lnSpc>
                <a:spcPts val="4432"/>
              </a:lnSpc>
            </a:pPr>
            <a:r>
              <a:rPr lang="en-US" sz="3165">
                <a:solidFill>
                  <a:srgbClr val="050E9B"/>
                </a:solidFill>
                <a:latin typeface="Monda"/>
                <a:ea typeface="Monda"/>
                <a:cs typeface="Monda"/>
                <a:sym typeface="Monda"/>
              </a:rPr>
              <a:t>The Hospital Bed Allocation System works by collecting patient information and checking the availability of beds across hospital departments.</a:t>
            </a:r>
          </a:p>
          <a:p>
            <a:pPr algn="l">
              <a:lnSpc>
                <a:spcPts val="4432"/>
              </a:lnSpc>
            </a:pPr>
            <a:r>
              <a:rPr lang="en-US" sz="3165">
                <a:solidFill>
                  <a:srgbClr val="050E9B"/>
                </a:solidFill>
                <a:latin typeface="Monda"/>
                <a:ea typeface="Monda"/>
                <a:cs typeface="Monda"/>
                <a:sym typeface="Monda"/>
              </a:rPr>
              <a:t>The allocation engine evaluates multiple parameters before assigning a suitable bed.</a:t>
            </a:r>
          </a:p>
          <a:p>
            <a:pPr algn="l">
              <a:lnSpc>
                <a:spcPts val="4432"/>
              </a:lnSpc>
            </a:pPr>
            <a:r>
              <a:rPr lang="en-US" sz="3165">
                <a:solidFill>
                  <a:srgbClr val="050E9B"/>
                </a:solidFill>
                <a:latin typeface="Monda"/>
                <a:ea typeface="Monda"/>
                <a:cs typeface="Monda"/>
                <a:sym typeface="Monda"/>
              </a:rPr>
              <a:t>Input Parameters</a:t>
            </a:r>
          </a:p>
          <a:p>
            <a:pPr marL="683487" lvl="1" indent="-341744" algn="l">
              <a:lnSpc>
                <a:spcPts val="4432"/>
              </a:lnSpc>
              <a:buFont typeface="Arial"/>
              <a:buChar char="•"/>
            </a:pPr>
            <a:r>
              <a:rPr lang="en-US" sz="3165">
                <a:solidFill>
                  <a:srgbClr val="050E9B"/>
                </a:solidFill>
                <a:latin typeface="Monda"/>
                <a:ea typeface="Monda"/>
                <a:cs typeface="Monda"/>
                <a:sym typeface="Monda"/>
              </a:rPr>
              <a:t>Bed Availability</a:t>
            </a:r>
          </a:p>
          <a:p>
            <a:pPr marL="683487" lvl="1" indent="-341744" algn="l">
              <a:lnSpc>
                <a:spcPts val="4432"/>
              </a:lnSpc>
              <a:buFont typeface="Arial"/>
              <a:buChar char="•"/>
            </a:pPr>
            <a:r>
              <a:rPr lang="en-US" sz="3165">
                <a:solidFill>
                  <a:srgbClr val="050E9B"/>
                </a:solidFill>
                <a:latin typeface="Monda"/>
                <a:ea typeface="Monda"/>
                <a:cs typeface="Monda"/>
                <a:sym typeface="Monda"/>
              </a:rPr>
              <a:t>Patient Priority</a:t>
            </a:r>
          </a:p>
          <a:p>
            <a:pPr marL="683487" lvl="1" indent="-341744" algn="l">
              <a:lnSpc>
                <a:spcPts val="4432"/>
              </a:lnSpc>
              <a:buFont typeface="Arial"/>
              <a:buChar char="•"/>
            </a:pPr>
            <a:r>
              <a:rPr lang="en-US" sz="3165">
                <a:solidFill>
                  <a:srgbClr val="050E9B"/>
                </a:solidFill>
                <a:latin typeface="Monda"/>
                <a:ea typeface="Monda"/>
                <a:cs typeface="Monda"/>
                <a:sym typeface="Monda"/>
              </a:rPr>
              <a:t>Department Capacity</a:t>
            </a:r>
          </a:p>
          <a:p>
            <a:pPr marL="683487" lvl="1" indent="-341744" algn="l">
              <a:lnSpc>
                <a:spcPts val="4432"/>
              </a:lnSpc>
              <a:buFont typeface="Arial"/>
              <a:buChar char="•"/>
            </a:pPr>
            <a:r>
              <a:rPr lang="en-US" sz="3165">
                <a:solidFill>
                  <a:srgbClr val="050E9B"/>
                </a:solidFill>
                <a:latin typeface="Monda"/>
                <a:ea typeface="Monda"/>
                <a:cs typeface="Monda"/>
                <a:sym typeface="Monda"/>
              </a:rPr>
              <a:t>Admission Time</a:t>
            </a:r>
          </a:p>
          <a:p>
            <a:pPr marL="683487" lvl="1" indent="-341744" algn="l">
              <a:lnSpc>
                <a:spcPts val="4432"/>
              </a:lnSpc>
              <a:buFont typeface="Arial"/>
              <a:buChar char="•"/>
            </a:pPr>
            <a:r>
              <a:rPr lang="en-US" sz="3165">
                <a:solidFill>
                  <a:srgbClr val="050E9B"/>
                </a:solidFill>
                <a:latin typeface="Monda"/>
                <a:ea typeface="Monda"/>
                <a:cs typeface="Monda"/>
                <a:sym typeface="Monda"/>
              </a:rPr>
              <a:t>Occupancy Rate</a:t>
            </a:r>
          </a:p>
          <a:p>
            <a:pPr algn="l">
              <a:lnSpc>
                <a:spcPts val="4432"/>
              </a:lnSpc>
            </a:pPr>
            <a:endParaRPr lang="en-US" sz="3165">
              <a:solidFill>
                <a:srgbClr val="050E9B"/>
              </a:solidFill>
              <a:latin typeface="Monda"/>
              <a:ea typeface="Monda"/>
              <a:cs typeface="Monda"/>
              <a:sym typeface="Monda"/>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9525509" y="3544200"/>
            <a:ext cx="5718211" cy="5034515"/>
          </a:xfrm>
          <a:prstGeom prst="rect">
            <a:avLst/>
          </a:prstGeom>
        </p:spPr>
        <p:txBody>
          <a:bodyPr lIns="0" tIns="0" rIns="0" bIns="0" rtlCol="0" anchor="t">
            <a:spAutoFit/>
          </a:bodyPr>
          <a:lstStyle/>
          <a:p>
            <a:pPr algn="l">
              <a:lnSpc>
                <a:spcPts val="4432"/>
              </a:lnSpc>
            </a:pPr>
            <a:r>
              <a:rPr lang="en-US" sz="3165">
                <a:solidFill>
                  <a:srgbClr val="050E9B"/>
                </a:solidFill>
                <a:latin typeface="Monda"/>
                <a:ea typeface="Monda"/>
                <a:cs typeface="Monda"/>
                <a:sym typeface="Monda"/>
              </a:rPr>
              <a:t>Lorem ipsum dolor sit amet, consectetur adipiscing elit. Cras placerat orci dui, nec pulvinar felis cursus id. Sed tellus nisi, varius malesuada est ut, dictum interdum tellus. Sed eget augue quis erat sollicitudin dictum porta eu nulla.</a:t>
            </a:r>
          </a:p>
        </p:txBody>
      </p:sp>
      <p:sp>
        <p:nvSpPr>
          <p:cNvPr id="5" name="Freeform 5"/>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6" name="Freeform 6"/>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7" name="Freeform 7"/>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3529903" y="1527310"/>
            <a:ext cx="11228195" cy="1631831"/>
          </a:xfrm>
          <a:prstGeom prst="rect">
            <a:avLst/>
          </a:prstGeom>
        </p:spPr>
        <p:txBody>
          <a:bodyPr lIns="0" tIns="0" rIns="0" bIns="0" rtlCol="0" anchor="t">
            <a:spAutoFit/>
          </a:bodyPr>
          <a:lstStyle/>
          <a:p>
            <a:pPr algn="ctr">
              <a:lnSpc>
                <a:spcPts val="13375"/>
              </a:lnSpc>
            </a:pPr>
            <a:r>
              <a:rPr lang="en-US" sz="9554">
                <a:solidFill>
                  <a:srgbClr val="050E9B"/>
                </a:solidFill>
                <a:latin typeface="Merriweather Sans"/>
                <a:ea typeface="Merriweather Sans"/>
                <a:cs typeface="Merriweather Sans"/>
                <a:sym typeface="Merriweather Sans"/>
              </a:rPr>
              <a:t>METHODOLOGY</a:t>
            </a:r>
          </a:p>
        </p:txBody>
      </p:sp>
      <p:pic>
        <p:nvPicPr>
          <p:cNvPr id="9" name="Picture 9"/>
          <p:cNvPicPr>
            <a:picLocks noChangeAspect="1"/>
          </p:cNvPicPr>
          <p:nvPr/>
        </p:nvPicPr>
        <p:blipFill>
          <a:blip r:embed="rId5"/>
          <a:stretch>
            <a:fillRect/>
          </a:stretch>
        </p:blipFill>
        <p:spPr>
          <a:xfrm>
            <a:off x="2458835" y="3037755"/>
            <a:ext cx="6763138" cy="610455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898822" y="-497257"/>
            <a:ext cx="5226651" cy="4114800"/>
          </a:xfrm>
          <a:custGeom>
            <a:avLst/>
            <a:gdLst/>
            <a:ahLst/>
            <a:cxnLst/>
            <a:rect l="l" t="t" r="r" b="b"/>
            <a:pathLst>
              <a:path w="5226651" h="4114800">
                <a:moveTo>
                  <a:pt x="0" y="0"/>
                </a:moveTo>
                <a:lnTo>
                  <a:pt x="5226651" y="0"/>
                </a:lnTo>
                <a:lnTo>
                  <a:pt x="5226651"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graphicFrame>
        <p:nvGraphicFramePr>
          <p:cNvPr id="7" name="Table 7"/>
          <p:cNvGraphicFramePr>
            <a:graphicFrameLocks noGrp="1"/>
          </p:cNvGraphicFramePr>
          <p:nvPr/>
        </p:nvGraphicFramePr>
        <p:xfrm>
          <a:off x="3260669" y="2392822"/>
          <a:ext cx="11766662" cy="7343777"/>
        </p:xfrm>
        <a:graphic>
          <a:graphicData uri="http://schemas.openxmlformats.org/drawingml/2006/table">
            <a:tbl>
              <a:tblPr/>
              <a:tblGrid>
                <a:gridCol w="5779701">
                  <a:extLst>
                    <a:ext uri="{9D8B030D-6E8A-4147-A177-3AD203B41FA5}">
                      <a16:colId xmlns:a16="http://schemas.microsoft.com/office/drawing/2014/main" val="20000"/>
                    </a:ext>
                  </a:extLst>
                </a:gridCol>
                <a:gridCol w="5986961">
                  <a:extLst>
                    <a:ext uri="{9D8B030D-6E8A-4147-A177-3AD203B41FA5}">
                      <a16:colId xmlns:a16="http://schemas.microsoft.com/office/drawing/2014/main" val="20001"/>
                    </a:ext>
                  </a:extLst>
                </a:gridCol>
              </a:tblGrid>
              <a:tr h="1049111">
                <a:tc>
                  <a:txBody>
                    <a:bodyPr/>
                    <a:lstStyle/>
                    <a:p>
                      <a:pPr algn="ctr">
                        <a:lnSpc>
                          <a:spcPts val="2939"/>
                        </a:lnSpc>
                        <a:defRPr/>
                      </a:pPr>
                      <a:r>
                        <a:rPr lang="en-US" sz="2099" b="1">
                          <a:solidFill>
                            <a:srgbClr val="000000"/>
                          </a:solidFill>
                          <a:latin typeface="Merriweather Sans Bold"/>
                          <a:ea typeface="Merriweather Sans Bold"/>
                          <a:cs typeface="Merriweather Sans Bold"/>
                          <a:sym typeface="Merriweather Sans Bold"/>
                        </a:rPr>
                        <a:t>Technology</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tc>
                  <a:txBody>
                    <a:bodyPr/>
                    <a:lstStyle/>
                    <a:p>
                      <a:pPr algn="ctr">
                        <a:lnSpc>
                          <a:spcPts val="2659"/>
                        </a:lnSpc>
                        <a:defRPr/>
                      </a:pPr>
                      <a:r>
                        <a:rPr lang="en-US" sz="1899" b="1">
                          <a:solidFill>
                            <a:srgbClr val="000000"/>
                          </a:solidFill>
                          <a:latin typeface="Merriweather Sans Bold"/>
                          <a:ea typeface="Merriweather Sans Bold"/>
                          <a:cs typeface="Merriweather Sans Bold"/>
                          <a:sym typeface="Merriweather Sans Bold"/>
                        </a:rPr>
                        <a:t>Purpose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99ACFF"/>
                    </a:solidFill>
                  </a:tcPr>
                </a:tc>
                <a:extLst>
                  <a:ext uri="{0D108BD9-81ED-4DB2-BD59-A6C34878D82A}">
                    <a16:rowId xmlns:a16="http://schemas.microsoft.com/office/drawing/2014/main" val="10000"/>
                  </a:ext>
                </a:extLst>
              </a:tr>
              <a:tr h="1049111">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Python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Backend Programming</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1"/>
                  </a:ext>
                </a:extLst>
              </a:tr>
              <a:tr h="1049111">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Flask</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Web Framework</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2"/>
                  </a:ext>
                </a:extLst>
              </a:tr>
              <a:tr h="1049111">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MySQL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Database Management</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3"/>
                  </a:ext>
                </a:extLst>
              </a:tr>
              <a:tr h="1049111">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NetworkX</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Graph-based Allocation Algorithm</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4"/>
                  </a:ext>
                </a:extLst>
              </a:tr>
              <a:tr h="1049111">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HTML</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Web Interface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5"/>
                  </a:ext>
                </a:extLst>
              </a:tr>
              <a:tr h="1049111">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CSS</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CDD6FF"/>
                    </a:solidFill>
                  </a:tcPr>
                </a:tc>
                <a:tc>
                  <a:txBody>
                    <a:bodyPr/>
                    <a:lstStyle/>
                    <a:p>
                      <a:pPr algn="ctr">
                        <a:lnSpc>
                          <a:spcPts val="2799"/>
                        </a:lnSpc>
                        <a:defRPr/>
                      </a:pPr>
                      <a:r>
                        <a:rPr lang="en-US" sz="1999">
                          <a:solidFill>
                            <a:srgbClr val="000000"/>
                          </a:solidFill>
                          <a:latin typeface="Merriweather Sans"/>
                          <a:ea typeface="Merriweather Sans"/>
                          <a:cs typeface="Merriweather Sans"/>
                          <a:sym typeface="Merriweather Sans"/>
                        </a:rPr>
                        <a:t>Styling and Responsive Design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E3E8FF"/>
                    </a:solidFill>
                  </a:tcPr>
                </a:tc>
                <a:extLst>
                  <a:ext uri="{0D108BD9-81ED-4DB2-BD59-A6C34878D82A}">
                    <a16:rowId xmlns:a16="http://schemas.microsoft.com/office/drawing/2014/main" val="10006"/>
                  </a:ext>
                </a:extLst>
              </a:tr>
            </a:tbl>
          </a:graphicData>
        </a:graphic>
      </p:graphicFrame>
      <p:sp>
        <p:nvSpPr>
          <p:cNvPr id="8" name="TextBox 8"/>
          <p:cNvSpPr txBox="1"/>
          <p:nvPr/>
        </p:nvSpPr>
        <p:spPr>
          <a:xfrm>
            <a:off x="3970847" y="1202493"/>
            <a:ext cx="9379689" cy="1057593"/>
          </a:xfrm>
          <a:prstGeom prst="rect">
            <a:avLst/>
          </a:prstGeom>
        </p:spPr>
        <p:txBody>
          <a:bodyPr lIns="0" tIns="0" rIns="0" bIns="0" rtlCol="0" anchor="t">
            <a:spAutoFit/>
          </a:bodyPr>
          <a:lstStyle/>
          <a:p>
            <a:pPr algn="ctr">
              <a:lnSpc>
                <a:spcPts val="8696"/>
              </a:lnSpc>
            </a:pPr>
            <a:r>
              <a:rPr lang="en-US" sz="6211">
                <a:solidFill>
                  <a:srgbClr val="050E9B"/>
                </a:solidFill>
                <a:latin typeface="Merriweather Sans"/>
                <a:ea typeface="Merriweather Sans"/>
                <a:cs typeface="Merriweather Sans"/>
                <a:sym typeface="Merriweather Sans"/>
              </a:rPr>
              <a:t>TECHNOLOGIES USED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29903" y="1287330"/>
            <a:ext cx="11216121" cy="1090018"/>
          </a:xfrm>
          <a:prstGeom prst="rect">
            <a:avLst/>
          </a:prstGeom>
        </p:spPr>
        <p:txBody>
          <a:bodyPr lIns="0" tIns="0" rIns="0" bIns="0" rtlCol="0" anchor="t">
            <a:spAutoFit/>
          </a:bodyPr>
          <a:lstStyle/>
          <a:p>
            <a:pPr algn="ctr">
              <a:lnSpc>
                <a:spcPts val="8907"/>
              </a:lnSpc>
            </a:pPr>
            <a:r>
              <a:rPr lang="en-US" sz="6362">
                <a:solidFill>
                  <a:srgbClr val="050E9B"/>
                </a:solidFill>
                <a:latin typeface="Merriweather Sans"/>
                <a:ea typeface="Merriweather Sans"/>
                <a:cs typeface="Merriweather Sans"/>
                <a:sym typeface="Merriweather Sans"/>
              </a:rPr>
              <a:t>SYSTEM PARAMETERS</a:t>
            </a:r>
          </a:p>
        </p:txBody>
      </p:sp>
      <p:sp>
        <p:nvSpPr>
          <p:cNvPr id="8" name="TextBox 8"/>
          <p:cNvSpPr txBox="1"/>
          <p:nvPr/>
        </p:nvSpPr>
        <p:spPr>
          <a:xfrm>
            <a:off x="2365590" y="2537860"/>
            <a:ext cx="12848894" cy="6720440"/>
          </a:xfrm>
          <a:prstGeom prst="rect">
            <a:avLst/>
          </a:prstGeom>
        </p:spPr>
        <p:txBody>
          <a:bodyPr lIns="0" tIns="0" rIns="0" bIns="0" rtlCol="0" anchor="t">
            <a:spAutoFit/>
          </a:bodyPr>
          <a:lstStyle/>
          <a:p>
            <a:pPr marL="683487" lvl="1" indent="-341744" algn="l">
              <a:lnSpc>
                <a:spcPts val="4432"/>
              </a:lnSpc>
              <a:buFont typeface="Arial"/>
              <a:buChar char="•"/>
            </a:pPr>
            <a:r>
              <a:rPr lang="en-US" sz="3165">
                <a:solidFill>
                  <a:srgbClr val="050E9B"/>
                </a:solidFill>
                <a:latin typeface="Monda"/>
                <a:ea typeface="Monda"/>
                <a:cs typeface="Monda"/>
                <a:sym typeface="Monda"/>
              </a:rPr>
              <a:t>Bed Availability</a:t>
            </a:r>
          </a:p>
          <a:p>
            <a:pPr algn="l">
              <a:lnSpc>
                <a:spcPts val="4432"/>
              </a:lnSpc>
            </a:pPr>
            <a:r>
              <a:rPr lang="en-US" sz="3165">
                <a:solidFill>
                  <a:srgbClr val="050E9B"/>
                </a:solidFill>
                <a:latin typeface="Monda"/>
                <a:ea typeface="Monda"/>
                <a:cs typeface="Monda"/>
                <a:sym typeface="Monda"/>
              </a:rPr>
              <a:t>       Checks whether beds are vacant or occupied.</a:t>
            </a:r>
          </a:p>
          <a:p>
            <a:pPr marL="683487" lvl="1" indent="-341744" algn="l">
              <a:lnSpc>
                <a:spcPts val="4432"/>
              </a:lnSpc>
              <a:buFont typeface="Arial"/>
              <a:buChar char="•"/>
            </a:pPr>
            <a:r>
              <a:rPr lang="en-US" sz="3165">
                <a:solidFill>
                  <a:srgbClr val="050E9B"/>
                </a:solidFill>
                <a:latin typeface="Monda"/>
                <a:ea typeface="Monda"/>
                <a:cs typeface="Monda"/>
                <a:sym typeface="Monda"/>
              </a:rPr>
              <a:t>Patient Priority</a:t>
            </a:r>
          </a:p>
          <a:p>
            <a:pPr algn="l">
              <a:lnSpc>
                <a:spcPts val="4432"/>
              </a:lnSpc>
            </a:pPr>
            <a:r>
              <a:rPr lang="en-US" sz="3165">
                <a:solidFill>
                  <a:srgbClr val="050E9B"/>
                </a:solidFill>
                <a:latin typeface="Monda"/>
                <a:ea typeface="Monda"/>
                <a:cs typeface="Monda"/>
                <a:sym typeface="Monda"/>
              </a:rPr>
              <a:t>        Emergency patients receive higher priority.</a:t>
            </a:r>
          </a:p>
          <a:p>
            <a:pPr marL="683487" lvl="1" indent="-341744" algn="l">
              <a:lnSpc>
                <a:spcPts val="4432"/>
              </a:lnSpc>
              <a:buFont typeface="Arial"/>
              <a:buChar char="•"/>
            </a:pPr>
            <a:r>
              <a:rPr lang="en-US" sz="3165">
                <a:solidFill>
                  <a:srgbClr val="050E9B"/>
                </a:solidFill>
                <a:latin typeface="Monda"/>
                <a:ea typeface="Monda"/>
                <a:cs typeface="Monda"/>
                <a:sym typeface="Monda"/>
              </a:rPr>
              <a:t>Department Capacity</a:t>
            </a:r>
          </a:p>
          <a:p>
            <a:pPr algn="l">
              <a:lnSpc>
                <a:spcPts val="4432"/>
              </a:lnSpc>
            </a:pPr>
            <a:r>
              <a:rPr lang="en-US" sz="3165">
                <a:solidFill>
                  <a:srgbClr val="050E9B"/>
                </a:solidFill>
                <a:latin typeface="Monda"/>
                <a:ea typeface="Monda"/>
                <a:cs typeface="Monda"/>
                <a:sym typeface="Monda"/>
              </a:rPr>
              <a:t>       Ensures each department does not exceed its maximum capacity.</a:t>
            </a:r>
          </a:p>
          <a:p>
            <a:pPr marL="683487" lvl="1" indent="-341744" algn="l">
              <a:lnSpc>
                <a:spcPts val="4432"/>
              </a:lnSpc>
              <a:buFont typeface="Arial"/>
              <a:buChar char="•"/>
            </a:pPr>
            <a:r>
              <a:rPr lang="en-US" sz="3165">
                <a:solidFill>
                  <a:srgbClr val="050E9B"/>
                </a:solidFill>
                <a:latin typeface="Monda"/>
                <a:ea typeface="Monda"/>
                <a:cs typeface="Monda"/>
                <a:sym typeface="Monda"/>
              </a:rPr>
              <a:t>Admission Time</a:t>
            </a:r>
          </a:p>
          <a:p>
            <a:pPr algn="l">
              <a:lnSpc>
                <a:spcPts val="4432"/>
              </a:lnSpc>
            </a:pPr>
            <a:r>
              <a:rPr lang="en-US" sz="3165">
                <a:solidFill>
                  <a:srgbClr val="050E9B"/>
                </a:solidFill>
                <a:latin typeface="Monda"/>
                <a:ea typeface="Monda"/>
                <a:cs typeface="Monda"/>
                <a:sym typeface="Monda"/>
              </a:rPr>
              <a:t>       Patients waiting longer are given preference.</a:t>
            </a:r>
          </a:p>
          <a:p>
            <a:pPr marL="683487" lvl="1" indent="-341744" algn="l">
              <a:lnSpc>
                <a:spcPts val="4432"/>
              </a:lnSpc>
              <a:buFont typeface="Arial"/>
              <a:buChar char="•"/>
            </a:pPr>
            <a:r>
              <a:rPr lang="en-US" sz="3165">
                <a:solidFill>
                  <a:srgbClr val="050E9B"/>
                </a:solidFill>
                <a:latin typeface="Monda"/>
                <a:ea typeface="Monda"/>
                <a:cs typeface="Monda"/>
                <a:sym typeface="Monda"/>
              </a:rPr>
              <a:t>Occupancy Rate</a:t>
            </a:r>
          </a:p>
          <a:p>
            <a:pPr algn="l">
              <a:lnSpc>
                <a:spcPts val="4432"/>
              </a:lnSpc>
            </a:pPr>
            <a:r>
              <a:rPr lang="en-US" sz="3165">
                <a:solidFill>
                  <a:srgbClr val="050E9B"/>
                </a:solidFill>
                <a:latin typeface="Monda"/>
                <a:ea typeface="Monda"/>
                <a:cs typeface="Monda"/>
                <a:sym typeface="Monda"/>
              </a:rPr>
              <a:t>       Monitors overall hospital utilization.</a:t>
            </a:r>
          </a:p>
          <a:p>
            <a:pPr algn="l">
              <a:lnSpc>
                <a:spcPts val="4432"/>
              </a:lnSpc>
            </a:pPr>
            <a:endParaRPr lang="en-US" sz="3165">
              <a:solidFill>
                <a:srgbClr val="050E9B"/>
              </a:solidFill>
              <a:latin typeface="Monda"/>
              <a:ea typeface="Monda"/>
              <a:cs typeface="Monda"/>
              <a:sym typeface="Monda"/>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485657" y="942975"/>
            <a:ext cx="10879298" cy="1657917"/>
          </a:xfrm>
          <a:prstGeom prst="rect">
            <a:avLst/>
          </a:prstGeom>
        </p:spPr>
        <p:txBody>
          <a:bodyPr lIns="0" tIns="0" rIns="0" bIns="0" rtlCol="0" anchor="t">
            <a:spAutoFit/>
          </a:bodyPr>
          <a:lstStyle/>
          <a:p>
            <a:pPr algn="ctr">
              <a:lnSpc>
                <a:spcPts val="6687"/>
              </a:lnSpc>
            </a:pPr>
            <a:r>
              <a:rPr lang="en-US" sz="4777">
                <a:solidFill>
                  <a:srgbClr val="050E9B"/>
                </a:solidFill>
                <a:latin typeface="Merriweather Sans"/>
                <a:ea typeface="Merriweather Sans"/>
                <a:cs typeface="Merriweather Sans"/>
                <a:sym typeface="Merriweather Sans"/>
              </a:rPr>
              <a:t>MODULE 1 – PATIENT MANAGEMENT</a:t>
            </a:r>
          </a:p>
        </p:txBody>
      </p:sp>
      <p:sp>
        <p:nvSpPr>
          <p:cNvPr id="8" name="TextBox 8"/>
          <p:cNvSpPr txBox="1"/>
          <p:nvPr/>
        </p:nvSpPr>
        <p:spPr>
          <a:xfrm>
            <a:off x="2880448" y="2814856"/>
            <a:ext cx="12848894" cy="6720440"/>
          </a:xfrm>
          <a:prstGeom prst="rect">
            <a:avLst/>
          </a:prstGeom>
        </p:spPr>
        <p:txBody>
          <a:bodyPr lIns="0" tIns="0" rIns="0" bIns="0" rtlCol="0" anchor="t">
            <a:spAutoFit/>
          </a:bodyPr>
          <a:lstStyle/>
          <a:p>
            <a:pPr algn="l">
              <a:lnSpc>
                <a:spcPts val="4432"/>
              </a:lnSpc>
            </a:pPr>
            <a:r>
              <a:rPr lang="en-US" sz="3165">
                <a:solidFill>
                  <a:srgbClr val="050E9B"/>
                </a:solidFill>
                <a:latin typeface="Monda"/>
                <a:ea typeface="Monda"/>
                <a:cs typeface="Monda"/>
                <a:sym typeface="Monda"/>
              </a:rPr>
              <a:t>Functions</a:t>
            </a:r>
          </a:p>
          <a:p>
            <a:pPr marL="683487" lvl="1" indent="-341744" algn="l">
              <a:lnSpc>
                <a:spcPts val="4432"/>
              </a:lnSpc>
              <a:buFont typeface="Arial"/>
              <a:buChar char="•"/>
            </a:pPr>
            <a:r>
              <a:rPr lang="en-US" sz="3165">
                <a:solidFill>
                  <a:srgbClr val="050E9B"/>
                </a:solidFill>
                <a:latin typeface="Monda"/>
                <a:ea typeface="Monda"/>
                <a:cs typeface="Monda"/>
                <a:sym typeface="Monda"/>
              </a:rPr>
              <a:t>Patient Registration</a:t>
            </a:r>
          </a:p>
          <a:p>
            <a:pPr marL="683487" lvl="1" indent="-341744" algn="l">
              <a:lnSpc>
                <a:spcPts val="4432"/>
              </a:lnSpc>
              <a:buFont typeface="Arial"/>
              <a:buChar char="•"/>
            </a:pPr>
            <a:r>
              <a:rPr lang="en-US" sz="3165">
                <a:solidFill>
                  <a:srgbClr val="050E9B"/>
                </a:solidFill>
                <a:latin typeface="Monda"/>
                <a:ea typeface="Monda"/>
                <a:cs typeface="Monda"/>
                <a:sym typeface="Monda"/>
              </a:rPr>
              <a:t>Patient Details Storage</a:t>
            </a:r>
          </a:p>
          <a:p>
            <a:pPr marL="683487" lvl="1" indent="-341744" algn="l">
              <a:lnSpc>
                <a:spcPts val="4432"/>
              </a:lnSpc>
              <a:buFont typeface="Arial"/>
              <a:buChar char="•"/>
            </a:pPr>
            <a:r>
              <a:rPr lang="en-US" sz="3165">
                <a:solidFill>
                  <a:srgbClr val="050E9B"/>
                </a:solidFill>
                <a:latin typeface="Monda"/>
                <a:ea typeface="Monda"/>
                <a:cs typeface="Monda"/>
                <a:sym typeface="Monda"/>
              </a:rPr>
              <a:t>Medical History</a:t>
            </a:r>
          </a:p>
          <a:p>
            <a:pPr marL="683487" lvl="1" indent="-341744" algn="l">
              <a:lnSpc>
                <a:spcPts val="4432"/>
              </a:lnSpc>
              <a:buFont typeface="Arial"/>
              <a:buChar char="•"/>
            </a:pPr>
            <a:r>
              <a:rPr lang="en-US" sz="3165">
                <a:solidFill>
                  <a:srgbClr val="050E9B"/>
                </a:solidFill>
                <a:latin typeface="Monda"/>
                <a:ea typeface="Monda"/>
                <a:cs typeface="Monda"/>
                <a:sym typeface="Monda"/>
              </a:rPr>
              <a:t>Admission Information</a:t>
            </a:r>
          </a:p>
          <a:p>
            <a:pPr marL="683487" lvl="1" indent="-341744" algn="l">
              <a:lnSpc>
                <a:spcPts val="4432"/>
              </a:lnSpc>
              <a:buFont typeface="Arial"/>
              <a:buChar char="•"/>
            </a:pPr>
            <a:r>
              <a:rPr lang="en-US" sz="3165">
                <a:solidFill>
                  <a:srgbClr val="050E9B"/>
                </a:solidFill>
                <a:latin typeface="Monda"/>
                <a:ea typeface="Monda"/>
                <a:cs typeface="Monda"/>
                <a:sym typeface="Monda"/>
              </a:rPr>
              <a:t>Priority Classification</a:t>
            </a:r>
          </a:p>
          <a:p>
            <a:pPr algn="l">
              <a:lnSpc>
                <a:spcPts val="4432"/>
              </a:lnSpc>
            </a:pPr>
            <a:r>
              <a:rPr lang="en-US" sz="3165">
                <a:solidFill>
                  <a:srgbClr val="050E9B"/>
                </a:solidFill>
                <a:latin typeface="Monda"/>
                <a:ea typeface="Monda"/>
                <a:cs typeface="Monda"/>
                <a:sym typeface="Monda"/>
              </a:rPr>
              <a:t>Input</a:t>
            </a:r>
          </a:p>
          <a:p>
            <a:pPr algn="l">
              <a:lnSpc>
                <a:spcPts val="4432"/>
              </a:lnSpc>
            </a:pPr>
            <a:r>
              <a:rPr lang="en-US" sz="3165">
                <a:solidFill>
                  <a:srgbClr val="050E9B"/>
                </a:solidFill>
                <a:latin typeface="Monda"/>
                <a:ea typeface="Monda"/>
                <a:cs typeface="Monda"/>
                <a:sym typeface="Monda"/>
              </a:rPr>
              <a:t>Patient Information</a:t>
            </a:r>
          </a:p>
          <a:p>
            <a:pPr algn="l">
              <a:lnSpc>
                <a:spcPts val="4432"/>
              </a:lnSpc>
            </a:pPr>
            <a:r>
              <a:rPr lang="en-US" sz="3165">
                <a:solidFill>
                  <a:srgbClr val="050E9B"/>
                </a:solidFill>
                <a:latin typeface="Monda"/>
                <a:ea typeface="Monda"/>
                <a:cs typeface="Monda"/>
                <a:sym typeface="Monda"/>
              </a:rPr>
              <a:t>↓</a:t>
            </a:r>
          </a:p>
          <a:p>
            <a:pPr algn="l">
              <a:lnSpc>
                <a:spcPts val="4432"/>
              </a:lnSpc>
            </a:pPr>
            <a:r>
              <a:rPr lang="en-US" sz="3165">
                <a:solidFill>
                  <a:srgbClr val="050E9B"/>
                </a:solidFill>
                <a:latin typeface="Monda"/>
                <a:ea typeface="Monda"/>
                <a:cs typeface="Monda"/>
                <a:sym typeface="Monda"/>
              </a:rPr>
              <a:t>Output</a:t>
            </a:r>
          </a:p>
          <a:p>
            <a:pPr algn="l">
              <a:lnSpc>
                <a:spcPts val="4432"/>
              </a:lnSpc>
            </a:pPr>
            <a:r>
              <a:rPr lang="en-US" sz="3165">
                <a:solidFill>
                  <a:srgbClr val="050E9B"/>
                </a:solidFill>
                <a:latin typeface="Monda"/>
                <a:ea typeface="Monda"/>
                <a:cs typeface="Monda"/>
                <a:sym typeface="Monda"/>
              </a:rPr>
              <a:t>Patient Record Created</a:t>
            </a:r>
          </a:p>
          <a:p>
            <a:pPr algn="l">
              <a:lnSpc>
                <a:spcPts val="4432"/>
              </a:lnSpc>
              <a:spcBef>
                <a:spcPct val="0"/>
              </a:spcBef>
            </a:pPr>
            <a:endParaRPr lang="en-US" sz="3165">
              <a:solidFill>
                <a:srgbClr val="050E9B"/>
              </a:solidFill>
              <a:latin typeface="Monda"/>
              <a:ea typeface="Monda"/>
              <a:cs typeface="Monda"/>
              <a:sym typeface="Monda"/>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07780" y="942975"/>
            <a:ext cx="10879298" cy="1657917"/>
          </a:xfrm>
          <a:prstGeom prst="rect">
            <a:avLst/>
          </a:prstGeom>
        </p:spPr>
        <p:txBody>
          <a:bodyPr lIns="0" tIns="0" rIns="0" bIns="0" rtlCol="0" anchor="t">
            <a:spAutoFit/>
          </a:bodyPr>
          <a:lstStyle/>
          <a:p>
            <a:pPr algn="ctr">
              <a:lnSpc>
                <a:spcPts val="6687"/>
              </a:lnSpc>
            </a:pPr>
            <a:r>
              <a:rPr lang="en-US" sz="4777">
                <a:solidFill>
                  <a:srgbClr val="050E9B"/>
                </a:solidFill>
                <a:latin typeface="Merriweather Sans"/>
                <a:ea typeface="Merriweather Sans"/>
                <a:cs typeface="Merriweather Sans"/>
                <a:sym typeface="Merriweather Sans"/>
              </a:rPr>
              <a:t>MODULE 2 – BED MONITORING &amp; AVAILABILITY</a:t>
            </a:r>
          </a:p>
        </p:txBody>
      </p:sp>
      <p:sp>
        <p:nvSpPr>
          <p:cNvPr id="8" name="TextBox 8"/>
          <p:cNvSpPr txBox="1"/>
          <p:nvPr/>
        </p:nvSpPr>
        <p:spPr>
          <a:xfrm>
            <a:off x="2719553" y="2903347"/>
            <a:ext cx="12848894" cy="6720440"/>
          </a:xfrm>
          <a:prstGeom prst="rect">
            <a:avLst/>
          </a:prstGeom>
        </p:spPr>
        <p:txBody>
          <a:bodyPr lIns="0" tIns="0" rIns="0" bIns="0" rtlCol="0" anchor="t">
            <a:spAutoFit/>
          </a:bodyPr>
          <a:lstStyle/>
          <a:p>
            <a:pPr algn="just">
              <a:lnSpc>
                <a:spcPts val="4432"/>
              </a:lnSpc>
            </a:pPr>
            <a:r>
              <a:rPr lang="en-US" sz="3165">
                <a:solidFill>
                  <a:srgbClr val="050E9B"/>
                </a:solidFill>
                <a:latin typeface="Monda"/>
                <a:ea typeface="Monda"/>
                <a:cs typeface="Monda"/>
                <a:sym typeface="Monda"/>
              </a:rPr>
              <a:t>Functions</a:t>
            </a:r>
          </a:p>
          <a:p>
            <a:pPr marL="683487" lvl="1" indent="-341744" algn="just">
              <a:lnSpc>
                <a:spcPts val="4432"/>
              </a:lnSpc>
              <a:buFont typeface="Arial"/>
              <a:buChar char="•"/>
            </a:pPr>
            <a:r>
              <a:rPr lang="en-US" sz="3165">
                <a:solidFill>
                  <a:srgbClr val="050E9B"/>
                </a:solidFill>
                <a:latin typeface="Monda"/>
                <a:ea typeface="Monda"/>
                <a:cs typeface="Monda"/>
                <a:sym typeface="Monda"/>
              </a:rPr>
              <a:t>Track Available Beds</a:t>
            </a:r>
          </a:p>
          <a:p>
            <a:pPr marL="683487" lvl="1" indent="-341744" algn="just">
              <a:lnSpc>
                <a:spcPts val="4432"/>
              </a:lnSpc>
              <a:buFont typeface="Arial"/>
              <a:buChar char="•"/>
            </a:pPr>
            <a:r>
              <a:rPr lang="en-US" sz="3165">
                <a:solidFill>
                  <a:srgbClr val="050E9B"/>
                </a:solidFill>
                <a:latin typeface="Monda"/>
                <a:ea typeface="Monda"/>
                <a:cs typeface="Monda"/>
                <a:sym typeface="Monda"/>
              </a:rPr>
              <a:t>Department-wise Bed Status</a:t>
            </a:r>
          </a:p>
          <a:p>
            <a:pPr marL="683487" lvl="1" indent="-341744" algn="just">
              <a:lnSpc>
                <a:spcPts val="4432"/>
              </a:lnSpc>
              <a:buFont typeface="Arial"/>
              <a:buChar char="•"/>
            </a:pPr>
            <a:r>
              <a:rPr lang="en-US" sz="3165">
                <a:solidFill>
                  <a:srgbClr val="050E9B"/>
                </a:solidFill>
                <a:latin typeface="Monda"/>
                <a:ea typeface="Monda"/>
                <a:cs typeface="Monda"/>
                <a:sym typeface="Monda"/>
              </a:rPr>
              <a:t>Occupancy Monitoring</a:t>
            </a:r>
          </a:p>
          <a:p>
            <a:pPr marL="683487" lvl="1" indent="-341744" algn="just">
              <a:lnSpc>
                <a:spcPts val="4432"/>
              </a:lnSpc>
              <a:buFont typeface="Arial"/>
              <a:buChar char="•"/>
            </a:pPr>
            <a:r>
              <a:rPr lang="en-US" sz="3165">
                <a:solidFill>
                  <a:srgbClr val="050E9B"/>
                </a:solidFill>
                <a:latin typeface="Monda"/>
                <a:ea typeface="Monda"/>
                <a:cs typeface="Monda"/>
                <a:sym typeface="Monda"/>
              </a:rPr>
              <a:t>Real-time Bed Updates</a:t>
            </a:r>
          </a:p>
          <a:p>
            <a:pPr algn="just">
              <a:lnSpc>
                <a:spcPts val="4432"/>
              </a:lnSpc>
            </a:pPr>
            <a:r>
              <a:rPr lang="en-US" sz="3165">
                <a:solidFill>
                  <a:srgbClr val="050E9B"/>
                </a:solidFill>
                <a:latin typeface="Monda"/>
                <a:ea typeface="Monda"/>
                <a:cs typeface="Monda"/>
                <a:sym typeface="Monda"/>
              </a:rPr>
              <a:t>Parameters Used</a:t>
            </a:r>
          </a:p>
          <a:p>
            <a:pPr marL="683487" lvl="1" indent="-341744" algn="just">
              <a:lnSpc>
                <a:spcPts val="4432"/>
              </a:lnSpc>
              <a:buFont typeface="Arial"/>
              <a:buChar char="•"/>
            </a:pPr>
            <a:r>
              <a:rPr lang="en-US" sz="3165">
                <a:solidFill>
                  <a:srgbClr val="050E9B"/>
                </a:solidFill>
                <a:latin typeface="Monda"/>
                <a:ea typeface="Monda"/>
                <a:cs typeface="Monda"/>
                <a:sym typeface="Monda"/>
              </a:rPr>
              <a:t>Bed Availability</a:t>
            </a:r>
          </a:p>
          <a:p>
            <a:pPr marL="683487" lvl="1" indent="-341744" algn="just">
              <a:lnSpc>
                <a:spcPts val="4432"/>
              </a:lnSpc>
              <a:buFont typeface="Arial"/>
              <a:buChar char="•"/>
            </a:pPr>
            <a:r>
              <a:rPr lang="en-US" sz="3165">
                <a:solidFill>
                  <a:srgbClr val="050E9B"/>
                </a:solidFill>
                <a:latin typeface="Monda"/>
                <a:ea typeface="Monda"/>
                <a:cs typeface="Monda"/>
                <a:sym typeface="Monda"/>
              </a:rPr>
              <a:t>Department Capacity</a:t>
            </a:r>
          </a:p>
          <a:p>
            <a:pPr marL="683487" lvl="1" indent="-341744" algn="just">
              <a:lnSpc>
                <a:spcPts val="4432"/>
              </a:lnSpc>
              <a:buFont typeface="Arial"/>
              <a:buChar char="•"/>
            </a:pPr>
            <a:r>
              <a:rPr lang="en-US" sz="3165">
                <a:solidFill>
                  <a:srgbClr val="050E9B"/>
                </a:solidFill>
                <a:latin typeface="Monda"/>
                <a:ea typeface="Monda"/>
                <a:cs typeface="Monda"/>
                <a:sym typeface="Monda"/>
              </a:rPr>
              <a:t>Occupancy Rate</a:t>
            </a:r>
          </a:p>
          <a:p>
            <a:pPr algn="just">
              <a:lnSpc>
                <a:spcPts val="4432"/>
              </a:lnSpc>
            </a:pPr>
            <a:r>
              <a:rPr lang="en-US" sz="3165">
                <a:solidFill>
                  <a:srgbClr val="050E9B"/>
                </a:solidFill>
                <a:latin typeface="Monda"/>
                <a:ea typeface="Monda"/>
                <a:cs typeface="Monda"/>
                <a:sym typeface="Monda"/>
              </a:rPr>
              <a:t>Output</a:t>
            </a:r>
          </a:p>
          <a:p>
            <a:pPr algn="just">
              <a:lnSpc>
                <a:spcPts val="4432"/>
              </a:lnSpc>
            </a:pPr>
            <a:r>
              <a:rPr lang="en-US" sz="3165">
                <a:solidFill>
                  <a:srgbClr val="050E9B"/>
                </a:solidFill>
                <a:latin typeface="Monda"/>
                <a:ea typeface="Monda"/>
                <a:cs typeface="Monda"/>
                <a:sym typeface="Monda"/>
              </a:rPr>
              <a:t>Updated Bed Status</a:t>
            </a:r>
          </a:p>
          <a:p>
            <a:pPr algn="just">
              <a:lnSpc>
                <a:spcPts val="4432"/>
              </a:lnSpc>
              <a:spcBef>
                <a:spcPct val="0"/>
              </a:spcBef>
            </a:pPr>
            <a:endParaRPr lang="en-US" sz="3165">
              <a:solidFill>
                <a:srgbClr val="050E9B"/>
              </a:solidFill>
              <a:latin typeface="Monda"/>
              <a:ea typeface="Monda"/>
              <a:cs typeface="Monda"/>
              <a:sym typeface="Monda"/>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07780" y="942975"/>
            <a:ext cx="10879298" cy="1657917"/>
          </a:xfrm>
          <a:prstGeom prst="rect">
            <a:avLst/>
          </a:prstGeom>
        </p:spPr>
        <p:txBody>
          <a:bodyPr lIns="0" tIns="0" rIns="0" bIns="0" rtlCol="0" anchor="t">
            <a:spAutoFit/>
          </a:bodyPr>
          <a:lstStyle/>
          <a:p>
            <a:pPr algn="ctr">
              <a:lnSpc>
                <a:spcPts val="6687"/>
              </a:lnSpc>
            </a:pPr>
            <a:r>
              <a:rPr lang="en-US" sz="4777">
                <a:solidFill>
                  <a:srgbClr val="050E9B"/>
                </a:solidFill>
                <a:latin typeface="Merriweather Sans"/>
                <a:ea typeface="Merriweather Sans"/>
                <a:cs typeface="Merriweather Sans"/>
                <a:sym typeface="Merriweather Sans"/>
              </a:rPr>
              <a:t>MODULE 3 – INTELLIGENT BED ALLOCATION ENGINE</a:t>
            </a:r>
          </a:p>
        </p:txBody>
      </p:sp>
      <p:sp>
        <p:nvSpPr>
          <p:cNvPr id="8" name="TextBox 8"/>
          <p:cNvSpPr txBox="1"/>
          <p:nvPr/>
        </p:nvSpPr>
        <p:spPr>
          <a:xfrm>
            <a:off x="2719553" y="2903347"/>
            <a:ext cx="12848894" cy="7282415"/>
          </a:xfrm>
          <a:prstGeom prst="rect">
            <a:avLst/>
          </a:prstGeom>
        </p:spPr>
        <p:txBody>
          <a:bodyPr lIns="0" tIns="0" rIns="0" bIns="0" rtlCol="0" anchor="t">
            <a:spAutoFit/>
          </a:bodyPr>
          <a:lstStyle/>
          <a:p>
            <a:pPr algn="just">
              <a:lnSpc>
                <a:spcPts val="4432"/>
              </a:lnSpc>
            </a:pPr>
            <a:r>
              <a:rPr lang="en-US" sz="3165">
                <a:solidFill>
                  <a:srgbClr val="050E9B"/>
                </a:solidFill>
                <a:latin typeface="Monda"/>
                <a:ea typeface="Monda"/>
                <a:cs typeface="Monda"/>
                <a:sym typeface="Monda"/>
              </a:rPr>
              <a:t>Functions</a:t>
            </a:r>
          </a:p>
          <a:p>
            <a:pPr marL="683487" lvl="1" indent="-341744" algn="just">
              <a:lnSpc>
                <a:spcPts val="4432"/>
              </a:lnSpc>
              <a:buFont typeface="Arial"/>
              <a:buChar char="•"/>
            </a:pPr>
            <a:r>
              <a:rPr lang="en-US" sz="3165">
                <a:solidFill>
                  <a:srgbClr val="050E9B"/>
                </a:solidFill>
                <a:latin typeface="Monda"/>
                <a:ea typeface="Monda"/>
                <a:cs typeface="Monda"/>
                <a:sym typeface="Monda"/>
              </a:rPr>
              <a:t>Analyze Patient Priority</a:t>
            </a:r>
          </a:p>
          <a:p>
            <a:pPr marL="683487" lvl="1" indent="-341744" algn="just">
              <a:lnSpc>
                <a:spcPts val="4432"/>
              </a:lnSpc>
              <a:buFont typeface="Arial"/>
              <a:buChar char="•"/>
            </a:pPr>
            <a:r>
              <a:rPr lang="en-US" sz="3165">
                <a:solidFill>
                  <a:srgbClr val="050E9B"/>
                </a:solidFill>
                <a:latin typeface="Monda"/>
                <a:ea typeface="Monda"/>
                <a:cs typeface="Monda"/>
                <a:sym typeface="Monda"/>
              </a:rPr>
              <a:t>Compare Department Capacity</a:t>
            </a:r>
          </a:p>
          <a:p>
            <a:pPr marL="683487" lvl="1" indent="-341744" algn="just">
              <a:lnSpc>
                <a:spcPts val="4432"/>
              </a:lnSpc>
              <a:buFont typeface="Arial"/>
              <a:buChar char="•"/>
            </a:pPr>
            <a:r>
              <a:rPr lang="en-US" sz="3165">
                <a:solidFill>
                  <a:srgbClr val="050E9B"/>
                </a:solidFill>
                <a:latin typeface="Monda"/>
                <a:ea typeface="Monda"/>
                <a:cs typeface="Monda"/>
                <a:sym typeface="Monda"/>
              </a:rPr>
              <a:t>Check Available Beds</a:t>
            </a:r>
          </a:p>
          <a:p>
            <a:pPr marL="683487" lvl="1" indent="-341744" algn="just">
              <a:lnSpc>
                <a:spcPts val="4432"/>
              </a:lnSpc>
              <a:buFont typeface="Arial"/>
              <a:buChar char="•"/>
            </a:pPr>
            <a:r>
              <a:rPr lang="en-US" sz="3165">
                <a:solidFill>
                  <a:srgbClr val="050E9B"/>
                </a:solidFill>
                <a:latin typeface="Monda"/>
                <a:ea typeface="Monda"/>
                <a:cs typeface="Monda"/>
                <a:sym typeface="Monda"/>
              </a:rPr>
              <a:t>Allocate Optimal Bed</a:t>
            </a:r>
          </a:p>
          <a:p>
            <a:pPr marL="683487" lvl="1" indent="-341744" algn="just">
              <a:lnSpc>
                <a:spcPts val="4432"/>
              </a:lnSpc>
              <a:buFont typeface="Arial"/>
              <a:buChar char="•"/>
            </a:pPr>
            <a:r>
              <a:rPr lang="en-US" sz="3165">
                <a:solidFill>
                  <a:srgbClr val="050E9B"/>
                </a:solidFill>
                <a:latin typeface="Monda"/>
                <a:ea typeface="Monda"/>
                <a:cs typeface="Monda"/>
                <a:sym typeface="Monda"/>
              </a:rPr>
              <a:t>Update Database Automatically</a:t>
            </a:r>
          </a:p>
          <a:p>
            <a:pPr algn="just">
              <a:lnSpc>
                <a:spcPts val="4432"/>
              </a:lnSpc>
            </a:pPr>
            <a:r>
              <a:rPr lang="en-US" sz="3165">
                <a:solidFill>
                  <a:srgbClr val="050E9B"/>
                </a:solidFill>
                <a:latin typeface="Monda"/>
                <a:ea typeface="Monda"/>
                <a:cs typeface="Monda"/>
                <a:sym typeface="Monda"/>
              </a:rPr>
              <a:t>Uses</a:t>
            </a:r>
          </a:p>
          <a:p>
            <a:pPr marL="683487" lvl="1" indent="-341744" algn="just">
              <a:lnSpc>
                <a:spcPts val="4432"/>
              </a:lnSpc>
              <a:buFont typeface="Arial"/>
              <a:buChar char="•"/>
            </a:pPr>
            <a:r>
              <a:rPr lang="en-US" sz="3165">
                <a:solidFill>
                  <a:srgbClr val="050E9B"/>
                </a:solidFill>
                <a:latin typeface="Monda"/>
                <a:ea typeface="Monda"/>
                <a:cs typeface="Monda"/>
                <a:sym typeface="Monda"/>
              </a:rPr>
              <a:t>Graph Theory</a:t>
            </a:r>
          </a:p>
          <a:p>
            <a:pPr marL="683487" lvl="1" indent="-341744" algn="just">
              <a:lnSpc>
                <a:spcPts val="4432"/>
              </a:lnSpc>
              <a:buFont typeface="Arial"/>
              <a:buChar char="•"/>
            </a:pPr>
            <a:r>
              <a:rPr lang="en-US" sz="3165">
                <a:solidFill>
                  <a:srgbClr val="050E9B"/>
                </a:solidFill>
                <a:latin typeface="Monda"/>
                <a:ea typeface="Monda"/>
                <a:cs typeface="Monda"/>
                <a:sym typeface="Monda"/>
              </a:rPr>
              <a:t>Optimization</a:t>
            </a:r>
          </a:p>
          <a:p>
            <a:pPr marL="683487" lvl="1" indent="-341744" algn="just">
              <a:lnSpc>
                <a:spcPts val="4432"/>
              </a:lnSpc>
              <a:buFont typeface="Arial"/>
              <a:buChar char="•"/>
            </a:pPr>
            <a:r>
              <a:rPr lang="en-US" sz="3165">
                <a:solidFill>
                  <a:srgbClr val="050E9B"/>
                </a:solidFill>
                <a:latin typeface="Monda"/>
                <a:ea typeface="Monda"/>
                <a:cs typeface="Monda"/>
                <a:sym typeface="Monda"/>
              </a:rPr>
              <a:t>Priority Queue Concepts</a:t>
            </a:r>
          </a:p>
          <a:p>
            <a:pPr algn="just">
              <a:lnSpc>
                <a:spcPts val="4432"/>
              </a:lnSpc>
            </a:pPr>
            <a:r>
              <a:rPr lang="en-US" sz="3165">
                <a:solidFill>
                  <a:srgbClr val="050E9B"/>
                </a:solidFill>
                <a:latin typeface="Monda"/>
                <a:ea typeface="Monda"/>
                <a:cs typeface="Monda"/>
                <a:sym typeface="Monda"/>
              </a:rPr>
              <a:t>Output</a:t>
            </a:r>
          </a:p>
          <a:p>
            <a:pPr algn="just">
              <a:lnSpc>
                <a:spcPts val="4432"/>
              </a:lnSpc>
            </a:pPr>
            <a:r>
              <a:rPr lang="en-US" sz="3165">
                <a:solidFill>
                  <a:srgbClr val="050E9B"/>
                </a:solidFill>
                <a:latin typeface="Monda"/>
                <a:ea typeface="Monda"/>
                <a:cs typeface="Monda"/>
                <a:sym typeface="Monda"/>
              </a:rPr>
              <a:t>Bed Successfully Allocated</a:t>
            </a:r>
          </a:p>
          <a:p>
            <a:pPr algn="just">
              <a:lnSpc>
                <a:spcPts val="4432"/>
              </a:lnSpc>
              <a:spcBef>
                <a:spcPct val="0"/>
              </a:spcBef>
            </a:pPr>
            <a:endParaRPr lang="en-US" sz="3165">
              <a:solidFill>
                <a:srgbClr val="050E9B"/>
              </a:solidFill>
              <a:latin typeface="Monda"/>
              <a:ea typeface="Monda"/>
              <a:cs typeface="Monda"/>
              <a:sym typeface="Monda"/>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642026" y="942975"/>
            <a:ext cx="10879298" cy="811153"/>
          </a:xfrm>
          <a:prstGeom prst="rect">
            <a:avLst/>
          </a:prstGeom>
        </p:spPr>
        <p:txBody>
          <a:bodyPr lIns="0" tIns="0" rIns="0" bIns="0" rtlCol="0" anchor="t">
            <a:spAutoFit/>
          </a:bodyPr>
          <a:lstStyle/>
          <a:p>
            <a:pPr algn="ctr">
              <a:lnSpc>
                <a:spcPts val="6687"/>
              </a:lnSpc>
            </a:pPr>
            <a:r>
              <a:rPr lang="en-US" sz="4777">
                <a:solidFill>
                  <a:srgbClr val="050E9B"/>
                </a:solidFill>
                <a:latin typeface="Merriweather Sans"/>
                <a:ea typeface="Merriweather Sans"/>
                <a:cs typeface="Merriweather Sans"/>
                <a:sym typeface="Merriweather Sans"/>
              </a:rPr>
              <a:t>SYSTEM WORKFLOW</a:t>
            </a:r>
          </a:p>
        </p:txBody>
      </p:sp>
      <p:sp>
        <p:nvSpPr>
          <p:cNvPr id="8" name="TextBox 8"/>
          <p:cNvSpPr txBox="1"/>
          <p:nvPr/>
        </p:nvSpPr>
        <p:spPr>
          <a:xfrm>
            <a:off x="3579954" y="2093684"/>
            <a:ext cx="10044724" cy="8193316"/>
          </a:xfrm>
          <a:prstGeom prst="rect">
            <a:avLst/>
          </a:prstGeom>
        </p:spPr>
        <p:txBody>
          <a:bodyPr lIns="0" tIns="0" rIns="0" bIns="0" rtlCol="0" anchor="t">
            <a:spAutoFit/>
          </a:bodyPr>
          <a:lstStyle/>
          <a:p>
            <a:pPr algn="ctr">
              <a:lnSpc>
                <a:spcPts val="2260"/>
              </a:lnSpc>
            </a:pPr>
            <a:r>
              <a:rPr lang="en-US" sz="1614">
                <a:solidFill>
                  <a:srgbClr val="050E9B"/>
                </a:solidFill>
                <a:latin typeface="Monda"/>
                <a:ea typeface="Monda"/>
                <a:cs typeface="Monda"/>
                <a:sym typeface="Monda"/>
              </a:rPr>
              <a:t>Patient Registration</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Patient Priority Assignment</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Check Department</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Check Bed Availability</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Allocation Engine</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Assign Bed</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Database Update</a:t>
            </a:r>
          </a:p>
          <a:p>
            <a:pPr algn="ctr">
              <a:lnSpc>
                <a:spcPts val="2260"/>
              </a:lnSpc>
            </a:pPr>
            <a:endParaRPr lang="en-US" sz="1614">
              <a:solidFill>
                <a:srgbClr val="050E9B"/>
              </a:solidFill>
              <a:latin typeface="Monda"/>
              <a:ea typeface="Monda"/>
              <a:cs typeface="Monda"/>
              <a:sym typeface="Monda"/>
            </a:endParaRPr>
          </a:p>
          <a:p>
            <a:pPr algn="ctr">
              <a:lnSpc>
                <a:spcPts val="2260"/>
              </a:lnSpc>
            </a:pPr>
            <a:r>
              <a:rPr lang="en-US" sz="1614">
                <a:solidFill>
                  <a:srgbClr val="050E9B"/>
                </a:solidFill>
                <a:latin typeface="Monda"/>
                <a:ea typeface="Monda"/>
                <a:cs typeface="Monda"/>
                <a:sym typeface="Monda"/>
              </a:rPr>
              <a:t>↓</a:t>
            </a:r>
          </a:p>
          <a:p>
            <a:pPr algn="ctr">
              <a:lnSpc>
                <a:spcPts val="2260"/>
              </a:lnSpc>
            </a:pPr>
            <a:endParaRPr lang="en-US" sz="1614">
              <a:solidFill>
                <a:srgbClr val="050E9B"/>
              </a:solidFill>
              <a:latin typeface="Monda"/>
              <a:ea typeface="Monda"/>
              <a:cs typeface="Monda"/>
              <a:sym typeface="Monda"/>
            </a:endParaRPr>
          </a:p>
          <a:p>
            <a:pPr algn="ctr">
              <a:lnSpc>
                <a:spcPts val="2260"/>
              </a:lnSpc>
              <a:spcBef>
                <a:spcPct val="0"/>
              </a:spcBef>
            </a:pPr>
            <a:r>
              <a:rPr lang="en-US" sz="1614">
                <a:solidFill>
                  <a:srgbClr val="050E9B"/>
                </a:solidFill>
                <a:latin typeface="Monda"/>
                <a:ea typeface="Monda"/>
                <a:cs typeface="Monda"/>
                <a:sym typeface="Monda"/>
              </a:rPr>
              <a:t>Notification &amp; Status Display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419289" y="439795"/>
            <a:ext cx="10879298" cy="1657917"/>
          </a:xfrm>
          <a:prstGeom prst="rect">
            <a:avLst/>
          </a:prstGeom>
        </p:spPr>
        <p:txBody>
          <a:bodyPr lIns="0" tIns="0" rIns="0" bIns="0" rtlCol="0" anchor="t">
            <a:spAutoFit/>
          </a:bodyPr>
          <a:lstStyle/>
          <a:p>
            <a:pPr algn="ctr">
              <a:lnSpc>
                <a:spcPts val="6687"/>
              </a:lnSpc>
            </a:pPr>
            <a:r>
              <a:rPr lang="en-US" sz="4777">
                <a:solidFill>
                  <a:srgbClr val="050E9B"/>
                </a:solidFill>
                <a:latin typeface="Merriweather Sans"/>
                <a:ea typeface="Merriweather Sans"/>
                <a:cs typeface="Merriweather Sans"/>
                <a:sym typeface="Merriweather Sans"/>
              </a:rPr>
              <a:t>DISCRETE MATHEMATICS CONCEPTS</a:t>
            </a:r>
          </a:p>
        </p:txBody>
      </p:sp>
      <p:sp>
        <p:nvSpPr>
          <p:cNvPr id="8" name="TextBox 8"/>
          <p:cNvSpPr txBox="1"/>
          <p:nvPr/>
        </p:nvSpPr>
        <p:spPr>
          <a:xfrm>
            <a:off x="2719553" y="2040562"/>
            <a:ext cx="12848894" cy="8406365"/>
          </a:xfrm>
          <a:prstGeom prst="rect">
            <a:avLst/>
          </a:prstGeom>
        </p:spPr>
        <p:txBody>
          <a:bodyPr lIns="0" tIns="0" rIns="0" bIns="0" rtlCol="0" anchor="t">
            <a:spAutoFit/>
          </a:bodyPr>
          <a:lstStyle/>
          <a:p>
            <a:pPr algn="just">
              <a:lnSpc>
                <a:spcPts val="4432"/>
              </a:lnSpc>
            </a:pPr>
            <a:r>
              <a:rPr lang="en-US" sz="3165">
                <a:solidFill>
                  <a:srgbClr val="050E9B"/>
                </a:solidFill>
                <a:latin typeface="Monda"/>
                <a:ea typeface="Monda"/>
                <a:cs typeface="Monda"/>
                <a:sym typeface="Monda"/>
              </a:rPr>
              <a:t>Graph Theory</a:t>
            </a:r>
          </a:p>
          <a:p>
            <a:pPr algn="just">
              <a:lnSpc>
                <a:spcPts val="4432"/>
              </a:lnSpc>
            </a:pPr>
            <a:r>
              <a:rPr lang="en-US" sz="3165">
                <a:solidFill>
                  <a:srgbClr val="050E9B"/>
                </a:solidFill>
                <a:latin typeface="Monda"/>
                <a:ea typeface="Monda"/>
                <a:cs typeface="Monda"/>
                <a:sym typeface="Monda"/>
              </a:rPr>
              <a:t>Represents</a:t>
            </a:r>
          </a:p>
          <a:p>
            <a:pPr marL="683487" lvl="1" indent="-341744" algn="just">
              <a:lnSpc>
                <a:spcPts val="4432"/>
              </a:lnSpc>
              <a:buFont typeface="Arial"/>
              <a:buChar char="•"/>
            </a:pPr>
            <a:r>
              <a:rPr lang="en-US" sz="3165">
                <a:solidFill>
                  <a:srgbClr val="050E9B"/>
                </a:solidFill>
                <a:latin typeface="Monda"/>
                <a:ea typeface="Monda"/>
                <a:cs typeface="Monda"/>
                <a:sym typeface="Monda"/>
              </a:rPr>
              <a:t>Patients</a:t>
            </a:r>
          </a:p>
          <a:p>
            <a:pPr marL="683487" lvl="1" indent="-341744" algn="just">
              <a:lnSpc>
                <a:spcPts val="4432"/>
              </a:lnSpc>
              <a:buFont typeface="Arial"/>
              <a:buChar char="•"/>
            </a:pPr>
            <a:r>
              <a:rPr lang="en-US" sz="3165">
                <a:solidFill>
                  <a:srgbClr val="050E9B"/>
                </a:solidFill>
                <a:latin typeface="Monda"/>
                <a:ea typeface="Monda"/>
                <a:cs typeface="Monda"/>
                <a:sym typeface="Monda"/>
              </a:rPr>
              <a:t>Beds</a:t>
            </a:r>
          </a:p>
          <a:p>
            <a:pPr marL="683487" lvl="1" indent="-341744" algn="just">
              <a:lnSpc>
                <a:spcPts val="4432"/>
              </a:lnSpc>
              <a:buFont typeface="Arial"/>
              <a:buChar char="•"/>
            </a:pPr>
            <a:r>
              <a:rPr lang="en-US" sz="3165">
                <a:solidFill>
                  <a:srgbClr val="050E9B"/>
                </a:solidFill>
                <a:latin typeface="Monda"/>
                <a:ea typeface="Monda"/>
                <a:cs typeface="Monda"/>
                <a:sym typeface="Monda"/>
              </a:rPr>
              <a:t>Departments</a:t>
            </a:r>
          </a:p>
          <a:p>
            <a:pPr algn="just">
              <a:lnSpc>
                <a:spcPts val="4432"/>
              </a:lnSpc>
            </a:pPr>
            <a:r>
              <a:rPr lang="en-US" sz="3165">
                <a:solidFill>
                  <a:srgbClr val="050E9B"/>
                </a:solidFill>
                <a:latin typeface="Monda"/>
                <a:ea typeface="Monda"/>
                <a:cs typeface="Monda"/>
                <a:sym typeface="Monda"/>
              </a:rPr>
              <a:t>as graph nodes.</a:t>
            </a:r>
          </a:p>
          <a:p>
            <a:pPr algn="just">
              <a:lnSpc>
                <a:spcPts val="4432"/>
              </a:lnSpc>
            </a:pPr>
            <a:r>
              <a:rPr lang="en-US" sz="3165">
                <a:solidFill>
                  <a:srgbClr val="050E9B"/>
                </a:solidFill>
                <a:latin typeface="Monda"/>
                <a:ea typeface="Monda"/>
                <a:cs typeface="Monda"/>
                <a:sym typeface="Monda"/>
              </a:rPr>
              <a:t>Edges represent possible allocations.</a:t>
            </a:r>
          </a:p>
          <a:p>
            <a:pPr algn="just">
              <a:lnSpc>
                <a:spcPts val="4432"/>
              </a:lnSpc>
            </a:pPr>
            <a:r>
              <a:rPr lang="en-US" sz="3165">
                <a:solidFill>
                  <a:srgbClr val="050E9B"/>
                </a:solidFill>
                <a:latin typeface="Monda"/>
                <a:ea typeface="Monda"/>
                <a:cs typeface="Monda"/>
                <a:sym typeface="Monda"/>
              </a:rPr>
              <a:t>Priority Queue</a:t>
            </a:r>
          </a:p>
          <a:p>
            <a:pPr algn="just">
              <a:lnSpc>
                <a:spcPts val="4432"/>
              </a:lnSpc>
            </a:pPr>
            <a:r>
              <a:rPr lang="en-US" sz="3165">
                <a:solidFill>
                  <a:srgbClr val="050E9B"/>
                </a:solidFill>
                <a:latin typeface="Monda"/>
                <a:ea typeface="Monda"/>
                <a:cs typeface="Monda"/>
                <a:sym typeface="Monda"/>
              </a:rPr>
              <a:t>Used to allocate emergency patients before normal patients.</a:t>
            </a:r>
          </a:p>
          <a:p>
            <a:pPr algn="just">
              <a:lnSpc>
                <a:spcPts val="4432"/>
              </a:lnSpc>
            </a:pPr>
            <a:r>
              <a:rPr lang="en-US" sz="3165">
                <a:solidFill>
                  <a:srgbClr val="050E9B"/>
                </a:solidFill>
                <a:latin typeface="Monda"/>
                <a:ea typeface="Monda"/>
                <a:cs typeface="Monda"/>
                <a:sym typeface="Monda"/>
              </a:rPr>
              <a:t>Set Theory</a:t>
            </a:r>
          </a:p>
          <a:p>
            <a:pPr algn="just">
              <a:lnSpc>
                <a:spcPts val="4432"/>
              </a:lnSpc>
            </a:pPr>
            <a:r>
              <a:rPr lang="en-US" sz="3165">
                <a:solidFill>
                  <a:srgbClr val="050E9B"/>
                </a:solidFill>
                <a:latin typeface="Monda"/>
                <a:ea typeface="Monda"/>
                <a:cs typeface="Monda"/>
                <a:sym typeface="Monda"/>
              </a:rPr>
              <a:t>Maintains</a:t>
            </a:r>
          </a:p>
          <a:p>
            <a:pPr marL="683487" lvl="1" indent="-341744" algn="just">
              <a:lnSpc>
                <a:spcPts val="4432"/>
              </a:lnSpc>
              <a:buFont typeface="Arial"/>
              <a:buChar char="•"/>
            </a:pPr>
            <a:r>
              <a:rPr lang="en-US" sz="3165">
                <a:solidFill>
                  <a:srgbClr val="050E9B"/>
                </a:solidFill>
                <a:latin typeface="Monda"/>
                <a:ea typeface="Monda"/>
                <a:cs typeface="Monda"/>
                <a:sym typeface="Monda"/>
              </a:rPr>
              <a:t>Occupied Beds</a:t>
            </a:r>
          </a:p>
          <a:p>
            <a:pPr marL="683487" lvl="1" indent="-341744" algn="just">
              <a:lnSpc>
                <a:spcPts val="4432"/>
              </a:lnSpc>
              <a:buFont typeface="Arial"/>
              <a:buChar char="•"/>
            </a:pPr>
            <a:r>
              <a:rPr lang="en-US" sz="3165">
                <a:solidFill>
                  <a:srgbClr val="050E9B"/>
                </a:solidFill>
                <a:latin typeface="Monda"/>
                <a:ea typeface="Monda"/>
                <a:cs typeface="Monda"/>
                <a:sym typeface="Monda"/>
              </a:rPr>
              <a:t>Available Beds</a:t>
            </a:r>
          </a:p>
          <a:p>
            <a:pPr marL="683487" lvl="1" indent="-341744" algn="just">
              <a:lnSpc>
                <a:spcPts val="4432"/>
              </a:lnSpc>
              <a:buFont typeface="Arial"/>
              <a:buChar char="•"/>
            </a:pPr>
            <a:r>
              <a:rPr lang="en-US" sz="3165">
                <a:solidFill>
                  <a:srgbClr val="050E9B"/>
                </a:solidFill>
                <a:latin typeface="Monda"/>
                <a:ea typeface="Monda"/>
                <a:cs typeface="Monda"/>
                <a:sym typeface="Monda"/>
              </a:rPr>
              <a:t>Department Resources</a:t>
            </a:r>
          </a:p>
          <a:p>
            <a:pPr algn="just">
              <a:lnSpc>
                <a:spcPts val="4432"/>
              </a:lnSpc>
              <a:spcBef>
                <a:spcPct val="0"/>
              </a:spcBef>
            </a:pPr>
            <a:endParaRPr lang="en-US" sz="3165">
              <a:solidFill>
                <a:srgbClr val="050E9B"/>
              </a:solidFill>
              <a:latin typeface="Monda"/>
              <a:ea typeface="Monda"/>
              <a:cs typeface="Monda"/>
              <a:sym typeface="Monda"/>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07780" y="1231068"/>
            <a:ext cx="10879298" cy="811153"/>
          </a:xfrm>
          <a:prstGeom prst="rect">
            <a:avLst/>
          </a:prstGeom>
        </p:spPr>
        <p:txBody>
          <a:bodyPr lIns="0" tIns="0" rIns="0" bIns="0" rtlCol="0" anchor="t">
            <a:spAutoFit/>
          </a:bodyPr>
          <a:lstStyle/>
          <a:p>
            <a:pPr algn="ctr">
              <a:lnSpc>
                <a:spcPts val="6687"/>
              </a:lnSpc>
            </a:pPr>
            <a:r>
              <a:rPr lang="en-US" sz="4777">
                <a:solidFill>
                  <a:srgbClr val="050E9B"/>
                </a:solidFill>
                <a:latin typeface="Merriweather Sans"/>
                <a:ea typeface="Merriweather Sans"/>
                <a:cs typeface="Merriweather Sans"/>
                <a:sym typeface="Merriweather Sans"/>
              </a:rPr>
              <a:t>DATABASE</a:t>
            </a:r>
          </a:p>
        </p:txBody>
      </p:sp>
      <p:sp>
        <p:nvSpPr>
          <p:cNvPr id="8" name="TextBox 8"/>
          <p:cNvSpPr txBox="1"/>
          <p:nvPr/>
        </p:nvSpPr>
        <p:spPr>
          <a:xfrm>
            <a:off x="2697430" y="2325084"/>
            <a:ext cx="10145576" cy="7961916"/>
          </a:xfrm>
          <a:prstGeom prst="rect">
            <a:avLst/>
          </a:prstGeom>
        </p:spPr>
        <p:txBody>
          <a:bodyPr lIns="0" tIns="0" rIns="0" bIns="0" rtlCol="0" anchor="t">
            <a:spAutoFit/>
          </a:bodyPr>
          <a:lstStyle/>
          <a:p>
            <a:pPr algn="just">
              <a:lnSpc>
                <a:spcPts val="3499"/>
              </a:lnSpc>
            </a:pPr>
            <a:r>
              <a:rPr lang="en-US" sz="2499">
                <a:solidFill>
                  <a:srgbClr val="050E9B"/>
                </a:solidFill>
                <a:latin typeface="Monda"/>
                <a:ea typeface="Monda"/>
                <a:cs typeface="Monda"/>
                <a:sym typeface="Monda"/>
              </a:rPr>
              <a:t>Patient Table</a:t>
            </a:r>
          </a:p>
          <a:p>
            <a:pPr marL="539686" lvl="1" indent="-269843" algn="just">
              <a:lnSpc>
                <a:spcPts val="3499"/>
              </a:lnSpc>
              <a:buFont typeface="Arial"/>
              <a:buChar char="•"/>
            </a:pPr>
            <a:r>
              <a:rPr lang="en-US" sz="2499">
                <a:solidFill>
                  <a:srgbClr val="050E9B"/>
                </a:solidFill>
                <a:latin typeface="Monda"/>
                <a:ea typeface="Monda"/>
                <a:cs typeface="Monda"/>
                <a:sym typeface="Monda"/>
              </a:rPr>
              <a:t>Patient ID</a:t>
            </a:r>
          </a:p>
          <a:p>
            <a:pPr marL="539686" lvl="1" indent="-269843" algn="just">
              <a:lnSpc>
                <a:spcPts val="3499"/>
              </a:lnSpc>
              <a:buFont typeface="Arial"/>
              <a:buChar char="•"/>
            </a:pPr>
            <a:r>
              <a:rPr lang="en-US" sz="2499">
                <a:solidFill>
                  <a:srgbClr val="050E9B"/>
                </a:solidFill>
                <a:latin typeface="Monda"/>
                <a:ea typeface="Monda"/>
                <a:cs typeface="Monda"/>
                <a:sym typeface="Monda"/>
              </a:rPr>
              <a:t>Name</a:t>
            </a:r>
          </a:p>
          <a:p>
            <a:pPr marL="539686" lvl="1" indent="-269843" algn="just">
              <a:lnSpc>
                <a:spcPts val="3499"/>
              </a:lnSpc>
              <a:buFont typeface="Arial"/>
              <a:buChar char="•"/>
            </a:pPr>
            <a:r>
              <a:rPr lang="en-US" sz="2499">
                <a:solidFill>
                  <a:srgbClr val="050E9B"/>
                </a:solidFill>
                <a:latin typeface="Monda"/>
                <a:ea typeface="Monda"/>
                <a:cs typeface="Monda"/>
                <a:sym typeface="Monda"/>
              </a:rPr>
              <a:t>Age</a:t>
            </a:r>
          </a:p>
          <a:p>
            <a:pPr marL="539686" lvl="1" indent="-269843" algn="just">
              <a:lnSpc>
                <a:spcPts val="3499"/>
              </a:lnSpc>
              <a:buFont typeface="Arial"/>
              <a:buChar char="•"/>
            </a:pPr>
            <a:r>
              <a:rPr lang="en-US" sz="2499">
                <a:solidFill>
                  <a:srgbClr val="050E9B"/>
                </a:solidFill>
                <a:latin typeface="Monda"/>
                <a:ea typeface="Monda"/>
                <a:cs typeface="Monda"/>
                <a:sym typeface="Monda"/>
              </a:rPr>
              <a:t>Disease</a:t>
            </a:r>
          </a:p>
          <a:p>
            <a:pPr marL="539686" lvl="1" indent="-269843" algn="just">
              <a:lnSpc>
                <a:spcPts val="3499"/>
              </a:lnSpc>
              <a:buFont typeface="Arial"/>
              <a:buChar char="•"/>
            </a:pPr>
            <a:r>
              <a:rPr lang="en-US" sz="2499">
                <a:solidFill>
                  <a:srgbClr val="050E9B"/>
                </a:solidFill>
                <a:latin typeface="Monda"/>
                <a:ea typeface="Monda"/>
                <a:cs typeface="Monda"/>
                <a:sym typeface="Monda"/>
              </a:rPr>
              <a:t>Priority</a:t>
            </a:r>
          </a:p>
          <a:p>
            <a:pPr marL="539686" lvl="1" indent="-269843" algn="just">
              <a:lnSpc>
                <a:spcPts val="3499"/>
              </a:lnSpc>
              <a:buFont typeface="Arial"/>
              <a:buChar char="•"/>
            </a:pPr>
            <a:r>
              <a:rPr lang="en-US" sz="2499">
                <a:solidFill>
                  <a:srgbClr val="050E9B"/>
                </a:solidFill>
                <a:latin typeface="Monda"/>
                <a:ea typeface="Monda"/>
                <a:cs typeface="Monda"/>
                <a:sym typeface="Monda"/>
              </a:rPr>
              <a:t>Admission Time</a:t>
            </a:r>
          </a:p>
          <a:p>
            <a:pPr algn="just">
              <a:lnSpc>
                <a:spcPts val="3499"/>
              </a:lnSpc>
            </a:pPr>
            <a:r>
              <a:rPr lang="en-US" sz="2499">
                <a:solidFill>
                  <a:srgbClr val="050E9B"/>
                </a:solidFill>
                <a:latin typeface="Monda"/>
                <a:ea typeface="Monda"/>
                <a:cs typeface="Monda"/>
                <a:sym typeface="Monda"/>
              </a:rPr>
              <a:t>Bed Table</a:t>
            </a:r>
          </a:p>
          <a:p>
            <a:pPr marL="539686" lvl="1" indent="-269843" algn="just">
              <a:lnSpc>
                <a:spcPts val="3499"/>
              </a:lnSpc>
              <a:buFont typeface="Arial"/>
              <a:buChar char="•"/>
            </a:pPr>
            <a:r>
              <a:rPr lang="en-US" sz="2499">
                <a:solidFill>
                  <a:srgbClr val="050E9B"/>
                </a:solidFill>
                <a:latin typeface="Monda"/>
                <a:ea typeface="Monda"/>
                <a:cs typeface="Monda"/>
                <a:sym typeface="Monda"/>
              </a:rPr>
              <a:t>Bed ID</a:t>
            </a:r>
          </a:p>
          <a:p>
            <a:pPr marL="539686" lvl="1" indent="-269843" algn="just">
              <a:lnSpc>
                <a:spcPts val="3499"/>
              </a:lnSpc>
              <a:buFont typeface="Arial"/>
              <a:buChar char="•"/>
            </a:pPr>
            <a:r>
              <a:rPr lang="en-US" sz="2499">
                <a:solidFill>
                  <a:srgbClr val="050E9B"/>
                </a:solidFill>
                <a:latin typeface="Monda"/>
                <a:ea typeface="Monda"/>
                <a:cs typeface="Monda"/>
                <a:sym typeface="Monda"/>
              </a:rPr>
              <a:t>Department</a:t>
            </a:r>
          </a:p>
          <a:p>
            <a:pPr marL="539686" lvl="1" indent="-269843" algn="just">
              <a:lnSpc>
                <a:spcPts val="3499"/>
              </a:lnSpc>
              <a:buFont typeface="Arial"/>
              <a:buChar char="•"/>
            </a:pPr>
            <a:r>
              <a:rPr lang="en-US" sz="2499">
                <a:solidFill>
                  <a:srgbClr val="050E9B"/>
                </a:solidFill>
                <a:latin typeface="Monda"/>
                <a:ea typeface="Monda"/>
                <a:cs typeface="Monda"/>
                <a:sym typeface="Monda"/>
              </a:rPr>
              <a:t>Status</a:t>
            </a:r>
          </a:p>
          <a:p>
            <a:pPr marL="539686" lvl="1" indent="-269843" algn="just">
              <a:lnSpc>
                <a:spcPts val="3499"/>
              </a:lnSpc>
              <a:buFont typeface="Arial"/>
              <a:buChar char="•"/>
            </a:pPr>
            <a:r>
              <a:rPr lang="en-US" sz="2499">
                <a:solidFill>
                  <a:srgbClr val="050E9B"/>
                </a:solidFill>
                <a:latin typeface="Monda"/>
                <a:ea typeface="Monda"/>
                <a:cs typeface="Monda"/>
                <a:sym typeface="Monda"/>
              </a:rPr>
              <a:t>Occupancy</a:t>
            </a:r>
          </a:p>
          <a:p>
            <a:pPr algn="just">
              <a:lnSpc>
                <a:spcPts val="3499"/>
              </a:lnSpc>
            </a:pPr>
            <a:r>
              <a:rPr lang="en-US" sz="2499">
                <a:solidFill>
                  <a:srgbClr val="050E9B"/>
                </a:solidFill>
                <a:latin typeface="Monda"/>
                <a:ea typeface="Monda"/>
                <a:cs typeface="Monda"/>
                <a:sym typeface="Monda"/>
              </a:rPr>
              <a:t>Allocation Table</a:t>
            </a:r>
          </a:p>
          <a:p>
            <a:pPr marL="539686" lvl="1" indent="-269843" algn="just">
              <a:lnSpc>
                <a:spcPts val="3499"/>
              </a:lnSpc>
              <a:buFont typeface="Arial"/>
              <a:buChar char="•"/>
            </a:pPr>
            <a:r>
              <a:rPr lang="en-US" sz="2499">
                <a:solidFill>
                  <a:srgbClr val="050E9B"/>
                </a:solidFill>
                <a:latin typeface="Monda"/>
                <a:ea typeface="Monda"/>
                <a:cs typeface="Monda"/>
                <a:sym typeface="Monda"/>
              </a:rPr>
              <a:t>Allocation ID</a:t>
            </a:r>
          </a:p>
          <a:p>
            <a:pPr marL="539686" lvl="1" indent="-269843" algn="just">
              <a:lnSpc>
                <a:spcPts val="3499"/>
              </a:lnSpc>
              <a:buFont typeface="Arial"/>
              <a:buChar char="•"/>
            </a:pPr>
            <a:r>
              <a:rPr lang="en-US" sz="2499">
                <a:solidFill>
                  <a:srgbClr val="050E9B"/>
                </a:solidFill>
                <a:latin typeface="Monda"/>
                <a:ea typeface="Monda"/>
                <a:cs typeface="Monda"/>
                <a:sym typeface="Monda"/>
              </a:rPr>
              <a:t>Patient ID</a:t>
            </a:r>
          </a:p>
          <a:p>
            <a:pPr marL="539686" lvl="1" indent="-269843" algn="just">
              <a:lnSpc>
                <a:spcPts val="3499"/>
              </a:lnSpc>
              <a:buFont typeface="Arial"/>
              <a:buChar char="•"/>
            </a:pPr>
            <a:r>
              <a:rPr lang="en-US" sz="2499">
                <a:solidFill>
                  <a:srgbClr val="050E9B"/>
                </a:solidFill>
                <a:latin typeface="Monda"/>
                <a:ea typeface="Monda"/>
                <a:cs typeface="Monda"/>
                <a:sym typeface="Monda"/>
              </a:rPr>
              <a:t>Bed ID</a:t>
            </a:r>
          </a:p>
          <a:p>
            <a:pPr marL="539686" lvl="1" indent="-269843" algn="just">
              <a:lnSpc>
                <a:spcPts val="3499"/>
              </a:lnSpc>
              <a:buFont typeface="Arial"/>
              <a:buChar char="•"/>
            </a:pPr>
            <a:r>
              <a:rPr lang="en-US" sz="2499">
                <a:solidFill>
                  <a:srgbClr val="050E9B"/>
                </a:solidFill>
                <a:latin typeface="Monda"/>
                <a:ea typeface="Monda"/>
                <a:cs typeface="Monda"/>
                <a:sym typeface="Monda"/>
              </a:rPr>
              <a:t>Allocation Time</a:t>
            </a:r>
          </a:p>
          <a:p>
            <a:pPr algn="just">
              <a:lnSpc>
                <a:spcPts val="3499"/>
              </a:lnSpc>
              <a:spcBef>
                <a:spcPct val="0"/>
              </a:spcBef>
            </a:pPr>
            <a:endParaRPr lang="en-US" sz="2499">
              <a:solidFill>
                <a:srgbClr val="050E9B"/>
              </a:solidFill>
              <a:latin typeface="Monda"/>
              <a:ea typeface="Monda"/>
              <a:cs typeface="Monda"/>
              <a:sym typeface="Mond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07780" y="1231068"/>
            <a:ext cx="10879298" cy="811153"/>
          </a:xfrm>
          <a:prstGeom prst="rect">
            <a:avLst/>
          </a:prstGeom>
        </p:spPr>
        <p:txBody>
          <a:bodyPr lIns="0" tIns="0" rIns="0" bIns="0" rtlCol="0" anchor="t">
            <a:spAutoFit/>
          </a:bodyPr>
          <a:lstStyle/>
          <a:p>
            <a:pPr algn="ctr">
              <a:lnSpc>
                <a:spcPts val="6687"/>
              </a:lnSpc>
            </a:pPr>
            <a:r>
              <a:rPr lang="en-US" sz="4777">
                <a:solidFill>
                  <a:srgbClr val="050E9B"/>
                </a:solidFill>
                <a:latin typeface="Merriweather Sans"/>
                <a:ea typeface="Merriweather Sans"/>
                <a:cs typeface="Merriweather Sans"/>
                <a:sym typeface="Merriweather Sans"/>
              </a:rPr>
              <a:t>ADVANTAGES AND DISADVANTAGES</a:t>
            </a:r>
          </a:p>
        </p:txBody>
      </p:sp>
      <p:sp>
        <p:nvSpPr>
          <p:cNvPr id="8" name="TextBox 8"/>
          <p:cNvSpPr txBox="1"/>
          <p:nvPr/>
        </p:nvSpPr>
        <p:spPr>
          <a:xfrm>
            <a:off x="2697430" y="2306034"/>
            <a:ext cx="12205143" cy="9055693"/>
          </a:xfrm>
          <a:prstGeom prst="rect">
            <a:avLst/>
          </a:prstGeom>
        </p:spPr>
        <p:txBody>
          <a:bodyPr lIns="0" tIns="0" rIns="0" bIns="0" rtlCol="0" anchor="t">
            <a:spAutoFit/>
          </a:bodyPr>
          <a:lstStyle/>
          <a:p>
            <a:pPr algn="just">
              <a:lnSpc>
                <a:spcPts val="4210"/>
              </a:lnSpc>
            </a:pPr>
            <a:r>
              <a:rPr lang="en-US" sz="3007">
                <a:solidFill>
                  <a:srgbClr val="050E9B"/>
                </a:solidFill>
                <a:latin typeface="Monda"/>
                <a:ea typeface="Monda"/>
                <a:cs typeface="Monda"/>
                <a:sym typeface="Monda"/>
              </a:rPr>
              <a:t>Advantages</a:t>
            </a:r>
          </a:p>
          <a:p>
            <a:pPr marL="649243" lvl="1" indent="-324622" algn="just">
              <a:lnSpc>
                <a:spcPts val="4210"/>
              </a:lnSpc>
              <a:buFont typeface="Arial"/>
              <a:buChar char="•"/>
            </a:pPr>
            <a:r>
              <a:rPr lang="en-US" sz="3007">
                <a:solidFill>
                  <a:srgbClr val="050E9B"/>
                </a:solidFill>
                <a:latin typeface="Monda"/>
                <a:ea typeface="Monda"/>
                <a:cs typeface="Monda"/>
                <a:sym typeface="Monda"/>
              </a:rPr>
              <a:t>Faster bed allocation</a:t>
            </a:r>
          </a:p>
          <a:p>
            <a:pPr marL="649243" lvl="1" indent="-324622" algn="just">
              <a:lnSpc>
                <a:spcPts val="4210"/>
              </a:lnSpc>
              <a:buFont typeface="Arial"/>
              <a:buChar char="•"/>
            </a:pPr>
            <a:r>
              <a:rPr lang="en-US" sz="3007">
                <a:solidFill>
                  <a:srgbClr val="050E9B"/>
                </a:solidFill>
                <a:latin typeface="Monda"/>
                <a:ea typeface="Monda"/>
                <a:cs typeface="Monda"/>
                <a:sym typeface="Monda"/>
              </a:rPr>
              <a:t>Reduces patient waiting time</a:t>
            </a:r>
          </a:p>
          <a:p>
            <a:pPr marL="649243" lvl="1" indent="-324622" algn="just">
              <a:lnSpc>
                <a:spcPts val="4210"/>
              </a:lnSpc>
              <a:buFont typeface="Arial"/>
              <a:buChar char="•"/>
            </a:pPr>
            <a:r>
              <a:rPr lang="en-US" sz="3007">
                <a:solidFill>
                  <a:srgbClr val="050E9B"/>
                </a:solidFill>
                <a:latin typeface="Monda"/>
                <a:ea typeface="Monda"/>
                <a:cs typeface="Monda"/>
                <a:sym typeface="Monda"/>
              </a:rPr>
              <a:t>Improves hospital resource utilization</a:t>
            </a:r>
          </a:p>
          <a:p>
            <a:pPr marL="649243" lvl="1" indent="-324622" algn="just">
              <a:lnSpc>
                <a:spcPts val="4210"/>
              </a:lnSpc>
              <a:buFont typeface="Arial"/>
              <a:buChar char="•"/>
            </a:pPr>
            <a:r>
              <a:rPr lang="en-US" sz="3007">
                <a:solidFill>
                  <a:srgbClr val="050E9B"/>
                </a:solidFill>
                <a:latin typeface="Monda"/>
                <a:ea typeface="Monda"/>
                <a:cs typeface="Monda"/>
                <a:sym typeface="Monda"/>
              </a:rPr>
              <a:t>Prioritizes emergency patients</a:t>
            </a:r>
          </a:p>
          <a:p>
            <a:pPr marL="649243" lvl="1" indent="-324622" algn="just">
              <a:lnSpc>
                <a:spcPts val="4210"/>
              </a:lnSpc>
              <a:buFont typeface="Arial"/>
              <a:buChar char="•"/>
            </a:pPr>
            <a:r>
              <a:rPr lang="en-US" sz="3007">
                <a:solidFill>
                  <a:srgbClr val="050E9B"/>
                </a:solidFill>
                <a:latin typeface="Monda"/>
                <a:ea typeface="Monda"/>
                <a:cs typeface="Monda"/>
                <a:sym typeface="Monda"/>
              </a:rPr>
              <a:t>Minimizes manual errors</a:t>
            </a:r>
          </a:p>
          <a:p>
            <a:pPr algn="just">
              <a:lnSpc>
                <a:spcPts val="4210"/>
              </a:lnSpc>
            </a:pPr>
            <a:r>
              <a:rPr lang="en-US" sz="3007">
                <a:solidFill>
                  <a:srgbClr val="050E9B"/>
                </a:solidFill>
                <a:latin typeface="Monda"/>
                <a:ea typeface="Monda"/>
                <a:cs typeface="Monda"/>
                <a:sym typeface="Monda"/>
              </a:rPr>
              <a:t>Disadvantages</a:t>
            </a:r>
          </a:p>
          <a:p>
            <a:pPr marL="649243" lvl="1" indent="-324622" algn="just">
              <a:lnSpc>
                <a:spcPts val="4210"/>
              </a:lnSpc>
              <a:buFont typeface="Arial"/>
              <a:buChar char="•"/>
            </a:pPr>
            <a:r>
              <a:rPr lang="en-US" sz="3007">
                <a:solidFill>
                  <a:srgbClr val="050E9B"/>
                </a:solidFill>
                <a:latin typeface="Monda"/>
                <a:ea typeface="Monda"/>
                <a:cs typeface="Monda"/>
                <a:sym typeface="Monda"/>
              </a:rPr>
              <a:t>High initial setup cost</a:t>
            </a:r>
          </a:p>
          <a:p>
            <a:pPr marL="649243" lvl="1" indent="-324622" algn="just">
              <a:lnSpc>
                <a:spcPts val="4210"/>
              </a:lnSpc>
              <a:buFont typeface="Arial"/>
              <a:buChar char="•"/>
            </a:pPr>
            <a:r>
              <a:rPr lang="en-US" sz="3007">
                <a:solidFill>
                  <a:srgbClr val="050E9B"/>
                </a:solidFill>
                <a:latin typeface="Monda"/>
                <a:ea typeface="Monda"/>
                <a:cs typeface="Monda"/>
                <a:sym typeface="Monda"/>
              </a:rPr>
              <a:t>Depends on accurate data entry</a:t>
            </a:r>
          </a:p>
          <a:p>
            <a:pPr marL="649243" lvl="1" indent="-324622" algn="just">
              <a:lnSpc>
                <a:spcPts val="4210"/>
              </a:lnSpc>
              <a:buFont typeface="Arial"/>
              <a:buChar char="•"/>
            </a:pPr>
            <a:r>
              <a:rPr lang="en-US" sz="3007">
                <a:solidFill>
                  <a:srgbClr val="050E9B"/>
                </a:solidFill>
                <a:latin typeface="Monda"/>
                <a:ea typeface="Monda"/>
                <a:cs typeface="Monda"/>
                <a:sym typeface="Monda"/>
              </a:rPr>
              <a:t>Requires regular database maintenance</a:t>
            </a:r>
          </a:p>
          <a:p>
            <a:pPr marL="649243" lvl="1" indent="-324622" algn="just">
              <a:lnSpc>
                <a:spcPts val="4210"/>
              </a:lnSpc>
              <a:buFont typeface="Arial"/>
              <a:buChar char="•"/>
            </a:pPr>
            <a:r>
              <a:rPr lang="en-US" sz="3007">
                <a:solidFill>
                  <a:srgbClr val="050E9B"/>
                </a:solidFill>
                <a:latin typeface="Monda"/>
                <a:ea typeface="Monda"/>
                <a:cs typeface="Monda"/>
                <a:sym typeface="Monda"/>
              </a:rPr>
              <a:t>Needs trained staff</a:t>
            </a:r>
          </a:p>
          <a:p>
            <a:pPr marL="649243" lvl="1" indent="-324622" algn="just">
              <a:lnSpc>
                <a:spcPts val="4210"/>
              </a:lnSpc>
              <a:buFont typeface="Arial"/>
              <a:buChar char="•"/>
            </a:pPr>
            <a:r>
              <a:rPr lang="en-US" sz="3007">
                <a:solidFill>
                  <a:srgbClr val="050E9B"/>
                </a:solidFill>
                <a:latin typeface="Monda"/>
                <a:ea typeface="Monda"/>
                <a:cs typeface="Monda"/>
                <a:sym typeface="Monda"/>
              </a:rPr>
              <a:t>System or network failures can affect operations</a:t>
            </a:r>
          </a:p>
          <a:p>
            <a:pPr algn="just">
              <a:lnSpc>
                <a:spcPts val="4210"/>
              </a:lnSpc>
            </a:pPr>
            <a:endParaRPr lang="en-US" sz="3007">
              <a:solidFill>
                <a:srgbClr val="050E9B"/>
              </a:solidFill>
              <a:latin typeface="Monda"/>
              <a:ea typeface="Monda"/>
              <a:cs typeface="Monda"/>
              <a:sym typeface="Monda"/>
            </a:endParaRPr>
          </a:p>
          <a:p>
            <a:pPr algn="just">
              <a:lnSpc>
                <a:spcPts val="4210"/>
              </a:lnSpc>
            </a:pPr>
            <a:endParaRPr lang="en-US" sz="3007">
              <a:solidFill>
                <a:srgbClr val="050E9B"/>
              </a:solidFill>
              <a:latin typeface="Monda"/>
              <a:ea typeface="Monda"/>
              <a:cs typeface="Monda"/>
              <a:sym typeface="Monda"/>
            </a:endParaRPr>
          </a:p>
          <a:p>
            <a:pPr algn="just">
              <a:lnSpc>
                <a:spcPts val="4210"/>
              </a:lnSpc>
            </a:pPr>
            <a:endParaRPr lang="en-US" sz="3007">
              <a:solidFill>
                <a:srgbClr val="050E9B"/>
              </a:solidFill>
              <a:latin typeface="Monda"/>
              <a:ea typeface="Monda"/>
              <a:cs typeface="Monda"/>
              <a:sym typeface="Monda"/>
            </a:endParaRPr>
          </a:p>
          <a:p>
            <a:pPr algn="just">
              <a:lnSpc>
                <a:spcPts val="4210"/>
              </a:lnSpc>
            </a:pPr>
            <a:endParaRPr lang="en-US" sz="3007">
              <a:solidFill>
                <a:srgbClr val="050E9B"/>
              </a:solidFill>
              <a:latin typeface="Monda"/>
              <a:ea typeface="Monda"/>
              <a:cs typeface="Monda"/>
              <a:sym typeface="Monda"/>
            </a:endParaRPr>
          </a:p>
          <a:p>
            <a:pPr algn="just">
              <a:lnSpc>
                <a:spcPts val="4210"/>
              </a:lnSpc>
              <a:spcBef>
                <a:spcPct val="0"/>
              </a:spcBef>
            </a:pPr>
            <a:endParaRPr lang="en-US" sz="3007">
              <a:solidFill>
                <a:srgbClr val="050E9B"/>
              </a:solidFill>
              <a:latin typeface="Monda"/>
              <a:ea typeface="Monda"/>
              <a:cs typeface="Monda"/>
              <a:sym typeface="Mond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3507780" y="1231068"/>
            <a:ext cx="10879298" cy="811153"/>
          </a:xfrm>
          <a:prstGeom prst="rect">
            <a:avLst/>
          </a:prstGeom>
        </p:spPr>
        <p:txBody>
          <a:bodyPr lIns="0" tIns="0" rIns="0" bIns="0" rtlCol="0" anchor="t">
            <a:spAutoFit/>
          </a:bodyPr>
          <a:lstStyle/>
          <a:p>
            <a:pPr algn="ctr">
              <a:lnSpc>
                <a:spcPts val="6687"/>
              </a:lnSpc>
            </a:pPr>
            <a:r>
              <a:rPr lang="en-US" sz="4777">
                <a:solidFill>
                  <a:srgbClr val="050E9B"/>
                </a:solidFill>
                <a:latin typeface="Merriweather Sans"/>
                <a:ea typeface="Merriweather Sans"/>
                <a:cs typeface="Merriweather Sans"/>
                <a:sym typeface="Merriweather Sans"/>
              </a:rPr>
              <a:t>CONCLUSION AND FUTURE SCOPE</a:t>
            </a:r>
          </a:p>
        </p:txBody>
      </p:sp>
      <p:sp>
        <p:nvSpPr>
          <p:cNvPr id="8" name="TextBox 8"/>
          <p:cNvSpPr txBox="1"/>
          <p:nvPr/>
        </p:nvSpPr>
        <p:spPr>
          <a:xfrm>
            <a:off x="2697430" y="2306034"/>
            <a:ext cx="13554627" cy="7454236"/>
          </a:xfrm>
          <a:prstGeom prst="rect">
            <a:avLst/>
          </a:prstGeom>
        </p:spPr>
        <p:txBody>
          <a:bodyPr lIns="0" tIns="0" rIns="0" bIns="0" rtlCol="0" anchor="t">
            <a:spAutoFit/>
          </a:bodyPr>
          <a:lstStyle/>
          <a:p>
            <a:pPr algn="just">
              <a:lnSpc>
                <a:spcPts val="4210"/>
              </a:lnSpc>
            </a:pPr>
            <a:r>
              <a:rPr lang="en-US" sz="3007">
                <a:solidFill>
                  <a:srgbClr val="050E9B"/>
                </a:solidFill>
                <a:latin typeface="Monda"/>
                <a:ea typeface="Monda"/>
                <a:cs typeface="Monda"/>
                <a:sym typeface="Monda"/>
              </a:rPr>
              <a:t>Future Scope</a:t>
            </a:r>
          </a:p>
          <a:p>
            <a:pPr marL="649243" lvl="1" indent="-324622" algn="just">
              <a:lnSpc>
                <a:spcPts val="4210"/>
              </a:lnSpc>
              <a:buFont typeface="Arial"/>
              <a:buChar char="•"/>
            </a:pPr>
            <a:r>
              <a:rPr lang="en-US" sz="3007">
                <a:solidFill>
                  <a:srgbClr val="050E9B"/>
                </a:solidFill>
                <a:latin typeface="Monda"/>
                <a:ea typeface="Monda"/>
                <a:cs typeface="Monda"/>
                <a:sym typeface="Monda"/>
              </a:rPr>
              <a:t>Integrate AI/ML for predictive bed allocation.</a:t>
            </a:r>
          </a:p>
          <a:p>
            <a:pPr marL="649243" lvl="1" indent="-324622" algn="just">
              <a:lnSpc>
                <a:spcPts val="4210"/>
              </a:lnSpc>
              <a:buFont typeface="Arial"/>
              <a:buChar char="•"/>
            </a:pPr>
            <a:r>
              <a:rPr lang="en-US" sz="3007">
                <a:solidFill>
                  <a:srgbClr val="050E9B"/>
                </a:solidFill>
                <a:latin typeface="Monda"/>
                <a:ea typeface="Monda"/>
                <a:cs typeface="Monda"/>
                <a:sym typeface="Monda"/>
              </a:rPr>
              <a:t>Develop a mobile application for real-time access.</a:t>
            </a:r>
          </a:p>
          <a:p>
            <a:pPr marL="649243" lvl="1" indent="-324622" algn="just">
              <a:lnSpc>
                <a:spcPts val="4210"/>
              </a:lnSpc>
              <a:buFont typeface="Arial"/>
              <a:buChar char="•"/>
            </a:pPr>
            <a:r>
              <a:rPr lang="en-US" sz="3007">
                <a:solidFill>
                  <a:srgbClr val="050E9B"/>
                </a:solidFill>
                <a:latin typeface="Monda"/>
                <a:ea typeface="Monda"/>
                <a:cs typeface="Monda"/>
                <a:sym typeface="Monda"/>
              </a:rPr>
              <a:t>Enable cloud-based data storage and synchronization.</a:t>
            </a:r>
          </a:p>
          <a:p>
            <a:pPr marL="649243" lvl="1" indent="-324622" algn="just">
              <a:lnSpc>
                <a:spcPts val="4210"/>
              </a:lnSpc>
              <a:buFont typeface="Arial"/>
              <a:buChar char="•"/>
            </a:pPr>
            <a:r>
              <a:rPr lang="en-US" sz="3007">
                <a:solidFill>
                  <a:srgbClr val="050E9B"/>
                </a:solidFill>
                <a:latin typeface="Monda"/>
                <a:ea typeface="Monda"/>
                <a:cs typeface="Monda"/>
                <a:sym typeface="Monda"/>
              </a:rPr>
              <a:t>Support multi-hospital bed management.</a:t>
            </a:r>
          </a:p>
          <a:p>
            <a:pPr marL="649243" lvl="1" indent="-324622" algn="just">
              <a:lnSpc>
                <a:spcPts val="4210"/>
              </a:lnSpc>
              <a:buFont typeface="Arial"/>
              <a:buChar char="•"/>
            </a:pPr>
            <a:r>
              <a:rPr lang="en-US" sz="3007">
                <a:solidFill>
                  <a:srgbClr val="050E9B"/>
                </a:solidFill>
                <a:latin typeface="Monda"/>
                <a:ea typeface="Monda"/>
                <a:cs typeface="Monda"/>
                <a:sym typeface="Monda"/>
              </a:rPr>
              <a:t>Integrate with IoT-enabled smart hospital systems.</a:t>
            </a:r>
          </a:p>
          <a:p>
            <a:pPr algn="just">
              <a:lnSpc>
                <a:spcPts val="4210"/>
              </a:lnSpc>
            </a:pPr>
            <a:r>
              <a:rPr lang="en-US" sz="3007">
                <a:solidFill>
                  <a:srgbClr val="050E9B"/>
                </a:solidFill>
                <a:latin typeface="Monda"/>
                <a:ea typeface="Monda"/>
                <a:cs typeface="Monda"/>
                <a:sym typeface="Monda"/>
              </a:rPr>
              <a:t>Conclusion</a:t>
            </a:r>
          </a:p>
          <a:p>
            <a:pPr algn="just">
              <a:lnSpc>
                <a:spcPts val="4210"/>
              </a:lnSpc>
            </a:pPr>
            <a:r>
              <a:rPr lang="en-US" sz="3007">
                <a:solidFill>
                  <a:srgbClr val="050E9B"/>
                </a:solidFill>
                <a:latin typeface="Monda"/>
                <a:ea typeface="Monda"/>
                <a:cs typeface="Monda"/>
                <a:sym typeface="Monda"/>
              </a:rPr>
              <a:t>The Hospital Bed Allocation System provides an efficient and automated solution for managing hospital beds. By considering factors such as bed availability, patient priority, department capacity, admission time, and occupancy rate, the system ensures faster and fairer bed allocation. It helps reduce waiting time, improves resource utilization, and enhances the overall quality of patient care.</a:t>
            </a:r>
          </a:p>
          <a:p>
            <a:pPr algn="just">
              <a:lnSpc>
                <a:spcPts val="4210"/>
              </a:lnSpc>
              <a:spcBef>
                <a:spcPct val="0"/>
              </a:spcBef>
            </a:pPr>
            <a:endParaRPr lang="en-US" sz="3007">
              <a:solidFill>
                <a:srgbClr val="050E9B"/>
              </a:solidFill>
              <a:latin typeface="Monda"/>
              <a:ea typeface="Monda"/>
              <a:cs typeface="Monda"/>
              <a:sym typeface="Mond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2204" r="-2204"/>
            </a:stretch>
          </a:blipFill>
        </p:spPr>
      </p:sp>
      <p:sp>
        <p:nvSpPr>
          <p:cNvPr id="3" name="Freeform 3"/>
          <p:cNvSpPr/>
          <p:nvPr/>
        </p:nvSpPr>
        <p:spPr>
          <a:xfrm>
            <a:off x="-1584626" y="-740607"/>
            <a:ext cx="5226651" cy="4114800"/>
          </a:xfrm>
          <a:custGeom>
            <a:avLst/>
            <a:gdLst/>
            <a:ahLst/>
            <a:cxnLst/>
            <a:rect l="l" t="t" r="r" b="b"/>
            <a:pathLst>
              <a:path w="5226651" h="4114800">
                <a:moveTo>
                  <a:pt x="0" y="0"/>
                </a:moveTo>
                <a:lnTo>
                  <a:pt x="5226652" y="0"/>
                </a:lnTo>
                <a:lnTo>
                  <a:pt x="5226652"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flipH="1" flipV="1">
            <a:off x="14645974" y="7042697"/>
            <a:ext cx="5226651" cy="4114800"/>
          </a:xfrm>
          <a:custGeom>
            <a:avLst/>
            <a:gdLst/>
            <a:ahLst/>
            <a:cxnLst/>
            <a:rect l="l" t="t" r="r" b="b"/>
            <a:pathLst>
              <a:path w="5226651" h="4114800">
                <a:moveTo>
                  <a:pt x="5226652" y="4114800"/>
                </a:moveTo>
                <a:lnTo>
                  <a:pt x="0" y="4114800"/>
                </a:lnTo>
                <a:lnTo>
                  <a:pt x="0" y="0"/>
                </a:lnTo>
                <a:lnTo>
                  <a:pt x="5226652" y="0"/>
                </a:lnTo>
                <a:lnTo>
                  <a:pt x="5226652" y="411480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15729343" y="-740607"/>
            <a:ext cx="3059915" cy="4114800"/>
          </a:xfrm>
          <a:custGeom>
            <a:avLst/>
            <a:gdLst/>
            <a:ahLst/>
            <a:cxnLst/>
            <a:rect l="l" t="t" r="r" b="b"/>
            <a:pathLst>
              <a:path w="3059915" h="4114800">
                <a:moveTo>
                  <a:pt x="0" y="0"/>
                </a:moveTo>
                <a:lnTo>
                  <a:pt x="3059914" y="0"/>
                </a:lnTo>
                <a:lnTo>
                  <a:pt x="3059914"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Freeform 6"/>
          <p:cNvSpPr/>
          <p:nvPr/>
        </p:nvSpPr>
        <p:spPr>
          <a:xfrm flipH="1" flipV="1">
            <a:off x="-501257" y="7042697"/>
            <a:ext cx="3059915" cy="4114800"/>
          </a:xfrm>
          <a:custGeom>
            <a:avLst/>
            <a:gdLst/>
            <a:ahLst/>
            <a:cxnLst/>
            <a:rect l="l" t="t" r="r" b="b"/>
            <a:pathLst>
              <a:path w="3059915" h="4114800">
                <a:moveTo>
                  <a:pt x="3059914" y="4114800"/>
                </a:moveTo>
                <a:lnTo>
                  <a:pt x="0" y="4114800"/>
                </a:lnTo>
                <a:lnTo>
                  <a:pt x="0" y="0"/>
                </a:lnTo>
                <a:lnTo>
                  <a:pt x="3059914" y="0"/>
                </a:lnTo>
                <a:lnTo>
                  <a:pt x="3059914" y="4114800"/>
                </a:lnTo>
                <a:close/>
              </a:path>
            </a:pathLst>
          </a:custGeom>
          <a:blipFill>
            <a:blip>
              <a:extLst>
                <a:ext uri="{96DAC541-7B7A-43D3-8B79-37D633B846F1}">
                  <asvg:svgBlip xmlns:asvg="http://schemas.microsoft.com/office/drawing/2016/SVG/main" r:embed="rId4"/>
                </a:ext>
              </a:extLst>
            </a:blip>
            <a:stretch>
              <a:fillRect/>
            </a:stretch>
          </a:blipFill>
        </p:spPr>
      </p:sp>
      <p:sp>
        <p:nvSpPr>
          <p:cNvPr id="7" name="TextBox 7"/>
          <p:cNvSpPr txBox="1"/>
          <p:nvPr/>
        </p:nvSpPr>
        <p:spPr>
          <a:xfrm>
            <a:off x="1846488" y="3962424"/>
            <a:ext cx="14595024" cy="2124027"/>
          </a:xfrm>
          <a:prstGeom prst="rect">
            <a:avLst/>
          </a:prstGeom>
        </p:spPr>
        <p:txBody>
          <a:bodyPr lIns="0" tIns="0" rIns="0" bIns="0" rtlCol="0" anchor="t">
            <a:spAutoFit/>
          </a:bodyPr>
          <a:lstStyle/>
          <a:p>
            <a:pPr algn="ctr">
              <a:lnSpc>
                <a:spcPts val="17386"/>
              </a:lnSpc>
            </a:pPr>
            <a:r>
              <a:rPr lang="en-US" sz="12418">
                <a:solidFill>
                  <a:srgbClr val="050E9B"/>
                </a:solidFill>
                <a:latin typeface="Merriweather Sans"/>
                <a:ea typeface="Merriweather Sans"/>
                <a:cs typeface="Merriweather Sans"/>
                <a:sym typeface="Merriweather Sans"/>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9</TotalTime>
  <Words>721</Words>
  <Application>Microsoft Office PowerPoint</Application>
  <PresentationFormat>Custom</PresentationFormat>
  <Paragraphs>194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Monda</vt:lpstr>
      <vt:lpstr>Calibri</vt:lpstr>
      <vt:lpstr>Merriweather Sans</vt:lpstr>
      <vt:lpstr>Arial</vt:lpstr>
      <vt:lpstr>Merriweather Sans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UBA0407-DISCRETE MATHEMATHICS</dc:title>
  <cp:lastModifiedBy>Aishvarya K</cp:lastModifiedBy>
  <cp:revision>1</cp:revision>
  <dcterms:created xsi:type="dcterms:W3CDTF">2006-08-16T00:00:00Z</dcterms:created>
  <dcterms:modified xsi:type="dcterms:W3CDTF">2026-09-01T07:54:05Z</dcterms:modified>
  <dc:identifier>DAHQ1LMp6FI</dc:identifier>
</cp:coreProperties>
</file>